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15" r:id="rId1"/>
  </p:sldMasterIdLst>
  <p:notesMasterIdLst>
    <p:notesMasterId r:id="rId62"/>
  </p:notesMasterIdLst>
  <p:sldIdLst>
    <p:sldId id="256" r:id="rId2"/>
    <p:sldId id="257" r:id="rId3"/>
    <p:sldId id="452" r:id="rId4"/>
    <p:sldId id="454" r:id="rId5"/>
    <p:sldId id="469" r:id="rId6"/>
    <p:sldId id="455" r:id="rId7"/>
    <p:sldId id="456" r:id="rId8"/>
    <p:sldId id="457" r:id="rId9"/>
    <p:sldId id="470" r:id="rId10"/>
    <p:sldId id="471" r:id="rId11"/>
    <p:sldId id="461" r:id="rId12"/>
    <p:sldId id="472" r:id="rId13"/>
    <p:sldId id="464" r:id="rId14"/>
    <p:sldId id="473" r:id="rId15"/>
    <p:sldId id="404" r:id="rId16"/>
    <p:sldId id="422" r:id="rId17"/>
    <p:sldId id="423" r:id="rId18"/>
    <p:sldId id="424" r:id="rId19"/>
    <p:sldId id="425" r:id="rId20"/>
    <p:sldId id="402" r:id="rId21"/>
    <p:sldId id="427" r:id="rId22"/>
    <p:sldId id="428" r:id="rId23"/>
    <p:sldId id="429" r:id="rId24"/>
    <p:sldId id="474" r:id="rId25"/>
    <p:sldId id="430" r:id="rId26"/>
    <p:sldId id="431" r:id="rId27"/>
    <p:sldId id="432" r:id="rId28"/>
    <p:sldId id="405" r:id="rId29"/>
    <p:sldId id="451" r:id="rId30"/>
    <p:sldId id="467" r:id="rId31"/>
    <p:sldId id="434" r:id="rId32"/>
    <p:sldId id="435" r:id="rId33"/>
    <p:sldId id="436" r:id="rId34"/>
    <p:sldId id="438" r:id="rId35"/>
    <p:sldId id="450" r:id="rId36"/>
    <p:sldId id="437" r:id="rId37"/>
    <p:sldId id="440" r:id="rId38"/>
    <p:sldId id="441" r:id="rId39"/>
    <p:sldId id="468" r:id="rId40"/>
    <p:sldId id="442" r:id="rId41"/>
    <p:sldId id="443" r:id="rId42"/>
    <p:sldId id="447" r:id="rId43"/>
    <p:sldId id="448" r:id="rId44"/>
    <p:sldId id="449" r:id="rId45"/>
    <p:sldId id="433" r:id="rId46"/>
    <p:sldId id="408" r:id="rId47"/>
    <p:sldId id="420" r:id="rId48"/>
    <p:sldId id="421" r:id="rId49"/>
    <p:sldId id="411" r:id="rId50"/>
    <p:sldId id="412" r:id="rId51"/>
    <p:sldId id="466" r:id="rId52"/>
    <p:sldId id="413" r:id="rId53"/>
    <p:sldId id="415" r:id="rId54"/>
    <p:sldId id="416" r:id="rId55"/>
    <p:sldId id="417" r:id="rId56"/>
    <p:sldId id="418" r:id="rId57"/>
    <p:sldId id="407" r:id="rId58"/>
    <p:sldId id="419" r:id="rId59"/>
    <p:sldId id="384" r:id="rId60"/>
    <p:sldId id="280"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ần Thế Pháp" initials="P" lastIdx="2" clrIdx="0">
    <p:extLst>
      <p:ext uri="{19B8F6BF-5375-455C-9EA6-DF929625EA0E}">
        <p15:presenceInfo xmlns:p15="http://schemas.microsoft.com/office/powerpoint/2012/main" userId="S::23020692@vnu.edu.vn::3b209ac6-f225-48f1-a485-cd8a7078049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6340" autoAdjust="0"/>
  </p:normalViewPr>
  <p:slideViewPr>
    <p:cSldViewPr snapToGrid="0">
      <p:cViewPr varScale="1">
        <p:scale>
          <a:sx n="75" d="100"/>
          <a:sy n="75" d="100"/>
        </p:scale>
        <p:origin x="6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14:28:51.138"/>
    </inkml:context>
    <inkml:brush xml:id="br0">
      <inkml:brushProperty name="width" value="0.035" units="cm"/>
      <inkml:brushProperty name="height" value="0.035" units="cm"/>
      <inkml:brushProperty name="color" value="#E71224"/>
    </inkml:brush>
  </inkml:definitions>
  <inkml:trace contextRef="#ctx0" brushRef="#br0">0 1026 24488,'3078'-1026'0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Lato Extended"/>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Lato Extended"/>
              </a:defRPr>
            </a:lvl1pPr>
          </a:lstStyle>
          <a:p>
            <a:fld id="{74FBC2B9-BB43-43FA-975B-83B75382B4D7}" type="datetimeFigureOut">
              <a:rPr lang="en-US" smtClean="0"/>
              <a:pPr/>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Lato Extended"/>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Lato Extended"/>
              </a:defRPr>
            </a:lvl1pPr>
          </a:lstStyle>
          <a:p>
            <a:fld id="{93DAC0ED-9996-4C34-835D-7E6DB699422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Lato Extended"/>
        <a:ea typeface="+mn-ea"/>
        <a:cs typeface="+mn-cs"/>
      </a:defRPr>
    </a:lvl1pPr>
    <a:lvl2pPr marL="457200" algn="l" defTabSz="914400" rtl="0" eaLnBrk="1" latinLnBrk="0" hangingPunct="1">
      <a:defRPr sz="1200" kern="1200">
        <a:solidFill>
          <a:schemeClr val="tx1"/>
        </a:solidFill>
        <a:latin typeface="Lato Extended"/>
        <a:ea typeface="+mn-ea"/>
        <a:cs typeface="+mn-cs"/>
      </a:defRPr>
    </a:lvl2pPr>
    <a:lvl3pPr marL="914400" algn="l" defTabSz="914400" rtl="0" eaLnBrk="1" latinLnBrk="0" hangingPunct="1">
      <a:defRPr sz="1200" kern="1200">
        <a:solidFill>
          <a:schemeClr val="tx1"/>
        </a:solidFill>
        <a:latin typeface="Lato Extended"/>
        <a:ea typeface="+mn-ea"/>
        <a:cs typeface="+mn-cs"/>
      </a:defRPr>
    </a:lvl3pPr>
    <a:lvl4pPr marL="1371600" algn="l" defTabSz="914400" rtl="0" eaLnBrk="1" latinLnBrk="0" hangingPunct="1">
      <a:defRPr sz="1200" kern="1200">
        <a:solidFill>
          <a:schemeClr val="tx1"/>
        </a:solidFill>
        <a:latin typeface="Lato Extended"/>
        <a:ea typeface="+mn-ea"/>
        <a:cs typeface="+mn-cs"/>
      </a:defRPr>
    </a:lvl4pPr>
    <a:lvl5pPr marL="1828800" algn="l" defTabSz="914400" rtl="0" eaLnBrk="1" latinLnBrk="0" hangingPunct="1">
      <a:defRPr sz="1200" kern="1200">
        <a:solidFill>
          <a:schemeClr val="tx1"/>
        </a:solidFill>
        <a:latin typeface="Lato Extended"/>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CFEDE2-241D-4171-B0E1-1A551F49D4D6}" type="datetime1">
              <a:rPr lang="en-US" smtClean="0"/>
              <a:t>5/6/2025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868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AEB837-1419-407A-B0AD-B19D702C8E2C}"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37972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FCCFD-D0A8-4EEB-9421-8D5D4ADE1ECA}"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2435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FAC3C1-9FAF-4342-B500-101CD7EFBD73}" type="datetime1">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7007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4B01F8-2FC9-4DC9-B1E5-FEE659FD1802}" type="datetime1">
              <a:rPr lang="en-US" smtClean="0"/>
              <a:t>5/6/2025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6431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0C9288-435D-4F4C-ACB7-1533425E2238}" type="datetime1">
              <a:rPr lang="en-US" smtClean="0"/>
              <a:t>5/6/2025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33756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072518-07FA-49A6-8B83-5D21E8747A1A}" type="datetime1">
              <a:rPr lang="en-US" smtClean="0"/>
              <a:t>5/6/2025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3311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CCC14F-CA39-43E3-BF4F-EEA1D926E31D}" type="datetime1">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9694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16B3F3-DBCD-40B0-AE1C-361E35DB5C68}" type="datetime1">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96430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A2EC56-0651-42D4-A560-2293AA25EF59}" type="datetime1">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6637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09DCC4-0A91-4A80-8D94-FCCAD5555DA2}"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55244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410F94-EE91-4C58-821D-3A778333E4B1}"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54523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208F61-0CCA-4955-8437-2A387AFB0DE2}"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4232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14CBE-54B0-4858-BB16-92A861420F39}"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74407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DFBD5E-B651-4A4E-BFB1-495D782F8B44}"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05857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51261E-1945-4645-9882-80F4AB3EE5E5}"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51599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02173-C9CF-49C2-86C6-32CC9CE604CC}" type="datetime1">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62272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691BFC-BF1E-4054-950C-17DB9CE167E0}" type="datetime1">
              <a:rPr lang="en-US" smtClean="0"/>
              <a:t>5/6/2025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4017265650"/>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Lato Extended"/>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p:cNvPicPr>
            <a:picLocks noChangeAspect="1"/>
          </p:cNvPicPr>
          <p:nvPr/>
        </p:nvPicPr>
        <p:blipFill>
          <a:blip r:embed="rId2"/>
          <a:srcRect l="23648" r="12201" b="2"/>
          <a:stretch>
            <a:fillRect/>
          </a:stretch>
        </p:blipFill>
        <p:spPr>
          <a:xfrm>
            <a:off x="7763434" y="0"/>
            <a:ext cx="4428565" cy="6857990"/>
          </a:xfrm>
          <a:prstGeom prst="rect">
            <a:avLst/>
          </a:prstGeom>
        </p:spPr>
      </p:pic>
      <p:sp>
        <p:nvSpPr>
          <p:cNvPr id="2" name="Title 1"/>
          <p:cNvSpPr>
            <a:spLocks noGrp="1"/>
          </p:cNvSpPr>
          <p:nvPr>
            <p:ph type="ctrTitle"/>
          </p:nvPr>
        </p:nvSpPr>
        <p:spPr>
          <a:xfrm>
            <a:off x="0" y="847451"/>
            <a:ext cx="7763434" cy="1200698"/>
          </a:xfrm>
        </p:spPr>
        <p:txBody>
          <a:bodyPr>
            <a:noAutofit/>
          </a:bodyPr>
          <a:lstStyle/>
          <a:p>
            <a:pPr algn="ctr"/>
            <a:r>
              <a:rPr lang="en-US" sz="2400" b="0" err="1">
                <a:latin typeface="Arial"/>
                <a:cs typeface="+mn-ea"/>
              </a:rPr>
              <a:t>Buổi</a:t>
            </a:r>
            <a:r>
              <a:rPr lang="en-US" sz="2400" b="0">
                <a:latin typeface="Arial"/>
                <a:cs typeface="+mn-ea"/>
              </a:rPr>
              <a:t> 6</a:t>
            </a:r>
            <a:br>
              <a:rPr lang="en-US" sz="4000">
                <a:latin typeface="Arial (Body)"/>
                <a:cs typeface="+mn-ea"/>
              </a:rPr>
            </a:br>
            <a:r>
              <a:rPr lang="en-US" sz="2400" b="0" err="1">
                <a:latin typeface="Arial"/>
                <a:cs typeface="+mn-ea"/>
              </a:rPr>
              <a:t>Công</a:t>
            </a:r>
            <a:r>
              <a:rPr lang="en-US" sz="2400" b="0">
                <a:latin typeface="Arial"/>
                <a:cs typeface="+mn-ea"/>
              </a:rPr>
              <a:t> </a:t>
            </a:r>
            <a:r>
              <a:rPr lang="en-US" sz="2400" b="0" err="1">
                <a:latin typeface="Arial"/>
                <a:cs typeface="+mn-ea"/>
              </a:rPr>
              <a:t>nghệ</a:t>
            </a:r>
            <a:r>
              <a:rPr lang="en-US" sz="2400" b="0">
                <a:latin typeface="Arial"/>
                <a:cs typeface="+mn-ea"/>
              </a:rPr>
              <a:t> </a:t>
            </a:r>
            <a:r>
              <a:rPr lang="en-US" sz="2400" b="0" err="1">
                <a:latin typeface="Arial"/>
                <a:cs typeface="+mn-ea"/>
              </a:rPr>
              <a:t>phần</a:t>
            </a:r>
            <a:r>
              <a:rPr lang="en-US" sz="2400" b="0">
                <a:latin typeface="Arial"/>
                <a:cs typeface="+mn-ea"/>
              </a:rPr>
              <a:t> </a:t>
            </a:r>
            <a:r>
              <a:rPr lang="en-US" sz="2400" b="0" err="1">
                <a:latin typeface="Arial"/>
                <a:cs typeface="+mn-ea"/>
              </a:rPr>
              <a:t>mềm</a:t>
            </a:r>
            <a:endParaRPr lang="en-US" sz="4000">
              <a:latin typeface="Arial (Body)"/>
              <a:cs typeface="+mn-ea"/>
            </a:endParaRPr>
          </a:p>
        </p:txBody>
      </p:sp>
      <p:sp>
        <p:nvSpPr>
          <p:cNvPr id="3" name="Subtitle 2"/>
          <p:cNvSpPr>
            <a:spLocks noGrp="1"/>
          </p:cNvSpPr>
          <p:nvPr>
            <p:ph type="subTitle" idx="1"/>
          </p:nvPr>
        </p:nvSpPr>
        <p:spPr>
          <a:xfrm>
            <a:off x="0" y="3085467"/>
            <a:ext cx="7763434" cy="1005657"/>
          </a:xfrm>
        </p:spPr>
        <p:txBody>
          <a:bodyPr>
            <a:noAutofit/>
          </a:bodyPr>
          <a:lstStyle/>
          <a:p>
            <a:pPr algn="ctr"/>
            <a:r>
              <a:rPr lang="en-US" sz="2400" b="0">
                <a:latin typeface="Arial"/>
              </a:rPr>
              <a:t>Mô hình hóa hệ thống</a:t>
            </a:r>
            <a:endParaRPr lang="en-US" sz="3200">
              <a:latin typeface="Arial (Body)"/>
            </a:endParaRPr>
          </a:p>
        </p:txBody>
      </p:sp>
      <p:cxnSp>
        <p:nvCxnSpPr>
          <p:cNvPr id="11" name="Straight Connector 10"/>
          <p:cNvCxnSpPr>
            <a:cxnSpLocks noGrp="1" noRot="1" noChangeAspect="1" noMove="1" noResize="1" noEditPoints="1" noAdjustHandles="1" noChangeArrowheads="1" noChangeShapeType="1"/>
          </p:cNvCxnSpPr>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noGrp="1" noRot="1" noChangeAspect="1" noMove="1" noResize="1" noEditPoints="1" noAdjustHandles="1" noChangeArrowheads="1" noChangeShapeType="1"/>
          </p:cNvCxnSpPr>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2EE62B57-FC3A-6748-D5F4-A74229EECBD2}"/>
              </a:ext>
            </a:extLst>
          </p:cNvPr>
          <p:cNvSpPr>
            <a:spLocks noGrp="1"/>
          </p:cNvSpPr>
          <p:nvPr>
            <p:ph type="sldNum" sz="quarter" idx="12"/>
          </p:nvPr>
        </p:nvSpPr>
        <p:spPr/>
        <p:txBody>
          <a:bodyPr/>
          <a:lstStyle/>
          <a:p>
            <a:fld id="{87E7843D-FF13-4365-9478-9625B70A2705}"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err="1">
                <a:latin typeface="Arial"/>
                <a:cs typeface="+mn-ea"/>
              </a:rPr>
              <a:t>Nội</a:t>
            </a:r>
            <a:r>
              <a:rPr lang="en-US" sz="4000" b="1">
                <a:latin typeface="Arial"/>
                <a:cs typeface="+mn-ea"/>
              </a:rPr>
              <a:t> dung</a:t>
            </a:r>
          </a:p>
        </p:txBody>
      </p:sp>
      <p:sp>
        <p:nvSpPr>
          <p:cNvPr id="4" name="Slide Number Placeholder 3">
            <a:extLst>
              <a:ext uri="{FF2B5EF4-FFF2-40B4-BE49-F238E27FC236}">
                <a16:creationId xmlns:a16="http://schemas.microsoft.com/office/drawing/2014/main" id="{A56D4F2F-3E96-735F-C09A-038ACB74452E}"/>
              </a:ext>
            </a:extLst>
          </p:cNvPr>
          <p:cNvSpPr>
            <a:spLocks noGrp="1"/>
          </p:cNvSpPr>
          <p:nvPr>
            <p:ph type="sldNum" sz="quarter" idx="12"/>
          </p:nvPr>
        </p:nvSpPr>
        <p:spPr/>
        <p:txBody>
          <a:bodyPr/>
          <a:lstStyle/>
          <a:p>
            <a:fld id="{87E7843D-FF13-4365-9478-9625B70A2705}" type="slidenum">
              <a:rPr lang="en-US" smtClean="0"/>
              <a:t>2</a:t>
            </a:fld>
            <a:endParaRPr lang="en-US"/>
          </a:p>
        </p:txBody>
      </p:sp>
      <p:sp>
        <p:nvSpPr>
          <p:cNvPr id="8" name="Rectangle 2">
            <a:extLst>
              <a:ext uri="{FF2B5EF4-FFF2-40B4-BE49-F238E27FC236}">
                <a16:creationId xmlns:a16="http://schemas.microsoft.com/office/drawing/2014/main" id="{867F6A88-76D2-B434-AAEE-DA056C71F6C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Giới thiệu về Thiết kế Kiến trúc</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a:ln>
                  <a:noFill/>
                </a:ln>
                <a:solidFill>
                  <a:schemeClr val="tx1"/>
                </a:solidFill>
                <a:effectLst/>
                <a:latin typeface="Arial" panose="020B0604020202020204" pitchFamily="34" charset="0"/>
              </a:rPr>
              <a:t>Các yếu tố thiết kế kiến trúc</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a:ln>
                  <a:noFill/>
                </a:ln>
                <a:solidFill>
                  <a:schemeClr val="tx1"/>
                </a:solidFill>
                <a:effectLst/>
                <a:latin typeface="Arial" panose="020B0604020202020204" pitchFamily="34" charset="0"/>
              </a:rPr>
              <a:t>Các mẫu kiến trúc phổ biến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a:ln>
                  <a:noFill/>
                </a:ln>
                <a:solidFill>
                  <a:schemeClr val="tx1"/>
                </a:solidFill>
                <a:effectLst/>
                <a:latin typeface="Arial" panose="020B0604020202020204" pitchFamily="34" charset="0"/>
              </a:rPr>
              <a:t>Các nguyên lý thiết kế kiến trúc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DC070-DBA7-C09F-52D7-9B3E78CB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6EAC4-94E6-883B-59ED-4C7D7D205AB3}"/>
              </a:ext>
            </a:extLst>
          </p:cNvPr>
          <p:cNvSpPr>
            <a:spLocks noGrp="1"/>
          </p:cNvSpPr>
          <p:nvPr>
            <p:ph type="title"/>
          </p:nvPr>
        </p:nvSpPr>
        <p:spPr/>
        <p:txBody>
          <a:bodyPr/>
          <a:lstStyle/>
          <a:p>
            <a:pPr algn="ctr"/>
            <a:r>
              <a:rPr lang="en-US"/>
              <a:t>Kiến trúc phần mềm</a:t>
            </a:r>
            <a:endParaRPr lang="en-US" sz="4000" b="1">
              <a:latin typeface="Arial"/>
              <a:cs typeface="+mn-ea"/>
            </a:endParaRPr>
          </a:p>
        </p:txBody>
      </p:sp>
      <p:sp>
        <p:nvSpPr>
          <p:cNvPr id="4" name="Slide Number Placeholder 3">
            <a:extLst>
              <a:ext uri="{FF2B5EF4-FFF2-40B4-BE49-F238E27FC236}">
                <a16:creationId xmlns:a16="http://schemas.microsoft.com/office/drawing/2014/main" id="{59C1B2CD-B0F7-8912-4E76-71EB27ECCD2F}"/>
              </a:ext>
            </a:extLst>
          </p:cNvPr>
          <p:cNvSpPr>
            <a:spLocks noGrp="1"/>
          </p:cNvSpPr>
          <p:nvPr>
            <p:ph type="sldNum" sz="quarter" idx="12"/>
          </p:nvPr>
        </p:nvSpPr>
        <p:spPr/>
        <p:txBody>
          <a:bodyPr/>
          <a:lstStyle/>
          <a:p>
            <a:fld id="{87E7843D-FF13-4365-9478-9625B70A2705}" type="slidenum">
              <a:rPr lang="en-US" smtClean="0"/>
              <a:t>3</a:t>
            </a:fld>
            <a:endParaRPr lang="en-US"/>
          </a:p>
        </p:txBody>
      </p:sp>
      <p:sp>
        <p:nvSpPr>
          <p:cNvPr id="3" name="Content Placeholder 2">
            <a:extLst>
              <a:ext uri="{FF2B5EF4-FFF2-40B4-BE49-F238E27FC236}">
                <a16:creationId xmlns:a16="http://schemas.microsoft.com/office/drawing/2014/main" id="{B9968F66-5548-2DCD-F4C8-D654920FED47}"/>
              </a:ext>
            </a:extLst>
          </p:cNvPr>
          <p:cNvSpPr>
            <a:spLocks noGrp="1"/>
          </p:cNvSpPr>
          <p:nvPr>
            <p:ph idx="1"/>
          </p:nvPr>
        </p:nvSpPr>
        <p:spPr>
          <a:xfrm>
            <a:off x="1484310" y="2666999"/>
            <a:ext cx="10018713" cy="3565257"/>
          </a:xfrm>
        </p:spPr>
        <p:txBody>
          <a:bodyPr>
            <a:normAutofit lnSpcReduction="10000"/>
          </a:bodyPr>
          <a:lstStyle/>
          <a:p>
            <a:pPr>
              <a:buNone/>
            </a:pPr>
            <a:r>
              <a:rPr lang="en-US" b="1"/>
              <a:t>Kiến trúc phần mềm của một hệ thống</a:t>
            </a:r>
            <a:r>
              <a:rPr lang="en-US"/>
              <a:t> là </a:t>
            </a:r>
            <a:r>
              <a:rPr lang="en-US" b="1"/>
              <a:t>tập hợp các cấu trúc</a:t>
            </a:r>
            <a:r>
              <a:rPr lang="en-US"/>
              <a:t> cần thiết để hiểu và phân tích hệ thống.</a:t>
            </a:r>
            <a:br>
              <a:rPr lang="en-US"/>
            </a:br>
            <a:r>
              <a:rPr lang="en-US"/>
              <a:t>Các cấu trúc này bao gồm:</a:t>
            </a:r>
          </a:p>
          <a:p>
            <a:pPr>
              <a:buFont typeface="Arial" panose="020B0604020202020204" pitchFamily="34" charset="0"/>
              <a:buChar char="•"/>
            </a:pPr>
            <a:r>
              <a:rPr lang="en-US"/>
              <a:t>Các thành phần phần mềm (software elements)</a:t>
            </a:r>
          </a:p>
          <a:p>
            <a:pPr>
              <a:buFont typeface="Arial" panose="020B0604020202020204" pitchFamily="34" charset="0"/>
              <a:buChar char="•"/>
            </a:pPr>
            <a:r>
              <a:rPr lang="en-US"/>
              <a:t>Các mối quan hệ giữa các thành phần (relations among them)</a:t>
            </a:r>
          </a:p>
          <a:p>
            <a:pPr>
              <a:buFont typeface="Arial" panose="020B0604020202020204" pitchFamily="34" charset="0"/>
              <a:buChar char="•"/>
            </a:pPr>
            <a:r>
              <a:rPr lang="en-US"/>
              <a:t>Các thuộc tính của cả thành phần và mối quan hệ (properties of both)</a:t>
            </a:r>
          </a:p>
          <a:p>
            <a:pPr>
              <a:buFont typeface="Arial" panose="020B0604020202020204" pitchFamily="34" charset="0"/>
              <a:buChar char="•"/>
            </a:pPr>
            <a:r>
              <a:rPr lang="en-US" b="1"/>
              <a:t>Ví dụ:</a:t>
            </a:r>
            <a:endParaRPr lang="en-US"/>
          </a:p>
          <a:p>
            <a:pPr marL="742950" lvl="1" indent="-285750">
              <a:buFont typeface="Arial" panose="020B0604020202020204" pitchFamily="34" charset="0"/>
              <a:buChar char="•"/>
            </a:pPr>
            <a:r>
              <a:rPr lang="en-US"/>
              <a:t>Mô hình 3 lớp (Presentation, Business, Data), Kiến trúc Microservices</a:t>
            </a:r>
          </a:p>
          <a:p>
            <a:pPr>
              <a:buFont typeface="Arial" panose="020B0604020202020204" pitchFamily="34" charset="0"/>
              <a:buChar char="•"/>
            </a:pPr>
            <a:endParaRPr lang="en-US"/>
          </a:p>
          <a:p>
            <a:endParaRPr lang="en-US"/>
          </a:p>
        </p:txBody>
      </p:sp>
    </p:spTree>
    <p:extLst>
      <p:ext uri="{BB962C8B-B14F-4D97-AF65-F5344CB8AC3E}">
        <p14:creationId xmlns:p14="http://schemas.microsoft.com/office/powerpoint/2010/main" val="874719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393E-3859-0619-06A8-E09F9C5BD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0C701-3745-31CE-530D-9C38ABEDA955}"/>
              </a:ext>
            </a:extLst>
          </p:cNvPr>
          <p:cNvSpPr>
            <a:spLocks noGrp="1"/>
          </p:cNvSpPr>
          <p:nvPr>
            <p:ph type="title"/>
          </p:nvPr>
        </p:nvSpPr>
        <p:spPr/>
        <p:txBody>
          <a:bodyPr/>
          <a:lstStyle/>
          <a:p>
            <a:pPr algn="ctr"/>
            <a:r>
              <a:rPr lang="en-US"/>
              <a:t>Vai trò của thiết kế kiến trúc trong phát triển phần mềm</a:t>
            </a:r>
            <a:endParaRPr lang="en-US" sz="4000" b="1">
              <a:latin typeface="Arial"/>
              <a:cs typeface="+mn-ea"/>
            </a:endParaRPr>
          </a:p>
        </p:txBody>
      </p:sp>
      <p:sp>
        <p:nvSpPr>
          <p:cNvPr id="4" name="Slide Number Placeholder 3">
            <a:extLst>
              <a:ext uri="{FF2B5EF4-FFF2-40B4-BE49-F238E27FC236}">
                <a16:creationId xmlns:a16="http://schemas.microsoft.com/office/drawing/2014/main" id="{F0226E05-F80B-2161-0147-A1CB76AA2864}"/>
              </a:ext>
            </a:extLst>
          </p:cNvPr>
          <p:cNvSpPr>
            <a:spLocks noGrp="1"/>
          </p:cNvSpPr>
          <p:nvPr>
            <p:ph type="sldNum" sz="quarter" idx="12"/>
          </p:nvPr>
        </p:nvSpPr>
        <p:spPr/>
        <p:txBody>
          <a:bodyPr/>
          <a:lstStyle/>
          <a:p>
            <a:fld id="{87E7843D-FF13-4365-9478-9625B70A2705}" type="slidenum">
              <a:rPr lang="en-US" smtClean="0"/>
              <a:t>4</a:t>
            </a:fld>
            <a:endParaRPr lang="en-US"/>
          </a:p>
        </p:txBody>
      </p:sp>
      <p:sp>
        <p:nvSpPr>
          <p:cNvPr id="5" name="Rectangle 1">
            <a:extLst>
              <a:ext uri="{FF2B5EF4-FFF2-40B4-BE49-F238E27FC236}">
                <a16:creationId xmlns:a16="http://schemas.microsoft.com/office/drawing/2014/main" id="{B958BA37-E605-B04D-59CF-2151678FC3E7}"/>
              </a:ext>
            </a:extLst>
          </p:cNvPr>
          <p:cNvSpPr>
            <a:spLocks noGrp="1" noChangeArrowheads="1"/>
          </p:cNvSpPr>
          <p:nvPr>
            <p:ph idx="1"/>
          </p:nvPr>
        </p:nvSpPr>
        <p:spPr bwMode="auto">
          <a:xfrm>
            <a:off x="1484311" y="2998603"/>
            <a:ext cx="55641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Định hình tổng thể hệ thống: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Quyết định cách các thành phần tương tác với nhau.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Đảm bảo chất lượng phần mềm:</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Tính linh hoạt, khả năng mở rộng, bảo trì, bảo mật.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Giảm thiểu rủi ro:</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Phát hiện sớm các vấn đề về thiết kế.</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615D0DF0-020A-17AD-4ACB-90F708973FD1}"/>
              </a:ext>
            </a:extLst>
          </p:cNvPr>
          <p:cNvSpPr txBox="1">
            <a:spLocks noChangeArrowheads="1"/>
          </p:cNvSpPr>
          <p:nvPr/>
        </p:nvSpPr>
        <p:spPr bwMode="auto">
          <a:xfrm>
            <a:off x="7048501" y="2907809"/>
            <a:ext cx="5564190" cy="248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Arial" panose="020B0604020202020204" pitchFamily="34" charset="0"/>
              <a:buChar char="•"/>
            </a:pPr>
            <a:r>
              <a:rPr lang="vi-VN" b="1"/>
              <a:t>Tối ưu chi phí và thời gian:</a:t>
            </a:r>
            <a:endParaRPr lang="vi-VN"/>
          </a:p>
          <a:p>
            <a:pPr marL="742950" lvl="1" indent="-285750">
              <a:buFont typeface="Arial" panose="020B0604020202020204" pitchFamily="34" charset="0"/>
              <a:buChar char="•"/>
            </a:pPr>
            <a:r>
              <a:rPr lang="vi-VN"/>
              <a:t>Hạn chế việc phải chỉnh sửa lớn sau này.</a:t>
            </a:r>
          </a:p>
          <a:p>
            <a:pPr>
              <a:buFont typeface="Arial" panose="020B0604020202020204" pitchFamily="34" charset="0"/>
              <a:buChar char="•"/>
            </a:pPr>
            <a:r>
              <a:rPr lang="vi-VN" b="1"/>
              <a:t>Giao tiếp hiệu quả:</a:t>
            </a:r>
            <a:endParaRPr lang="vi-VN"/>
          </a:p>
          <a:p>
            <a:pPr marL="742950" lvl="1" indent="-285750">
              <a:buFont typeface="Arial" panose="020B0604020202020204" pitchFamily="34" charset="0"/>
              <a:buChar char="•"/>
            </a:pPr>
            <a:r>
              <a:rPr lang="vi-VN"/>
              <a:t>Là "ngôn ngữ chung" giữa các nhóm phát triển, khách hàng, và quản lý.</a:t>
            </a:r>
          </a:p>
        </p:txBody>
      </p:sp>
    </p:spTree>
    <p:extLst>
      <p:ext uri="{BB962C8B-B14F-4D97-AF65-F5344CB8AC3E}">
        <p14:creationId xmlns:p14="http://schemas.microsoft.com/office/powerpoint/2010/main" val="721128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85175-042F-F8A5-DDCF-F1F8A2A8B8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F02958-2CF6-CB32-7136-36587B94E17A}"/>
              </a:ext>
            </a:extLst>
          </p:cNvPr>
          <p:cNvSpPr>
            <a:spLocks noGrp="1"/>
          </p:cNvSpPr>
          <p:nvPr>
            <p:ph type="sldNum" sz="quarter" idx="12"/>
          </p:nvPr>
        </p:nvSpPr>
        <p:spPr/>
        <p:txBody>
          <a:bodyPr/>
          <a:lstStyle/>
          <a:p>
            <a:fld id="{87E7843D-FF13-4365-9478-9625B70A2705}" type="slidenum">
              <a:rPr lang="en-US" smtClean="0"/>
              <a:t>5</a:t>
            </a:fld>
            <a:endParaRPr lang="en-US"/>
          </a:p>
        </p:txBody>
      </p:sp>
      <p:sp>
        <p:nvSpPr>
          <p:cNvPr id="7" name="Title 1">
            <a:extLst>
              <a:ext uri="{FF2B5EF4-FFF2-40B4-BE49-F238E27FC236}">
                <a16:creationId xmlns:a16="http://schemas.microsoft.com/office/drawing/2014/main" id="{4CB63B51-19E6-93C6-A584-700B334401F7}"/>
              </a:ext>
            </a:extLst>
          </p:cNvPr>
          <p:cNvSpPr txBox="1">
            <a:spLocks/>
          </p:cNvSpPr>
          <p:nvPr/>
        </p:nvSpPr>
        <p:spPr>
          <a:xfrm>
            <a:off x="1484310" y="241301"/>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Lato Extended"/>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Sự quan trọng của Kiến trúc phần mềm</a:t>
            </a:r>
            <a:endParaRPr lang="en-US" b="1">
              <a:latin typeface="Arial"/>
              <a:cs typeface="+mn-ea"/>
            </a:endParaRPr>
          </a:p>
        </p:txBody>
      </p:sp>
      <p:sp>
        <p:nvSpPr>
          <p:cNvPr id="5" name="Rectangle 2">
            <a:extLst>
              <a:ext uri="{FF2B5EF4-FFF2-40B4-BE49-F238E27FC236}">
                <a16:creationId xmlns:a16="http://schemas.microsoft.com/office/drawing/2014/main" id="{FE0DC8E8-3717-F429-7798-46078724D57C}"/>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Hỗ trợ giao tiếp giữa các bên liên quan (Stakeholders):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Là cầu nối để các bên (khách hàng, nhà phát triển, quản lý) hiểu và trao đổi với nhau.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các ràng buộc cho việc hiện thực hóa:</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Đặt ra giới hạn, quy tắc cho việc thiết kế và phát triển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Dự đoán chất lượng hệ thống: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Đánh giá được khả năng đáp ứng yêu cầu về hiệu suất, bảo mật, khả năng mở rộng,...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Nâng cao độ chính xác trong dự đoán chi phí và thời gian: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Giúp lập kế hoạch ngân sách và tiến độ triển khai thực tế sát với thực tế hơn.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6990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B0000-536A-94DA-F1E4-C6B6BCF82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9892A-30F6-0DCF-782E-CA87EB8C99ED}"/>
              </a:ext>
            </a:extLst>
          </p:cNvPr>
          <p:cNvSpPr>
            <a:spLocks noGrp="1"/>
          </p:cNvSpPr>
          <p:nvPr>
            <p:ph type="title"/>
          </p:nvPr>
        </p:nvSpPr>
        <p:spPr>
          <a:xfrm>
            <a:off x="1484310" y="241301"/>
            <a:ext cx="10018713" cy="1752599"/>
          </a:xfrm>
        </p:spPr>
        <p:txBody>
          <a:bodyPr/>
          <a:lstStyle/>
          <a:p>
            <a:pPr algn="ctr"/>
            <a:r>
              <a:rPr lang="pt-BR"/>
              <a:t>Sơ đồ tuần tự (Sequence Diagram)</a:t>
            </a:r>
            <a:endParaRPr lang="en-US" sz="4000" b="1">
              <a:latin typeface="Arial"/>
              <a:cs typeface="+mn-ea"/>
            </a:endParaRPr>
          </a:p>
        </p:txBody>
      </p:sp>
      <p:sp>
        <p:nvSpPr>
          <p:cNvPr id="4" name="Slide Number Placeholder 3">
            <a:extLst>
              <a:ext uri="{FF2B5EF4-FFF2-40B4-BE49-F238E27FC236}">
                <a16:creationId xmlns:a16="http://schemas.microsoft.com/office/drawing/2014/main" id="{3F47D84D-8B71-D69F-8AE2-FCD3855DDA85}"/>
              </a:ext>
            </a:extLst>
          </p:cNvPr>
          <p:cNvSpPr>
            <a:spLocks noGrp="1"/>
          </p:cNvSpPr>
          <p:nvPr>
            <p:ph type="sldNum" sz="quarter" idx="12"/>
          </p:nvPr>
        </p:nvSpPr>
        <p:spPr/>
        <p:txBody>
          <a:bodyPr/>
          <a:lstStyle/>
          <a:p>
            <a:fld id="{87E7843D-FF13-4365-9478-9625B70A2705}" type="slidenum">
              <a:rPr lang="en-US" smtClean="0"/>
              <a:t>6</a:t>
            </a:fld>
            <a:endParaRPr lang="en-US"/>
          </a:p>
        </p:txBody>
      </p:sp>
      <p:graphicFrame>
        <p:nvGraphicFramePr>
          <p:cNvPr id="8" name="Table 7">
            <a:extLst>
              <a:ext uri="{FF2B5EF4-FFF2-40B4-BE49-F238E27FC236}">
                <a16:creationId xmlns:a16="http://schemas.microsoft.com/office/drawing/2014/main" id="{3E27B0F1-2160-C798-AA22-E19ECCD75C2C}"/>
              </a:ext>
            </a:extLst>
          </p:cNvPr>
          <p:cNvGraphicFramePr>
            <a:graphicFrameLocks noGrp="1"/>
          </p:cNvGraphicFramePr>
          <p:nvPr>
            <p:extLst>
              <p:ext uri="{D42A27DB-BD31-4B8C-83A1-F6EECF244321}">
                <p14:modId xmlns:p14="http://schemas.microsoft.com/office/powerpoint/2010/main" val="1123129191"/>
              </p:ext>
            </p:extLst>
          </p:nvPr>
        </p:nvGraphicFramePr>
        <p:xfrm>
          <a:off x="1824698" y="1993900"/>
          <a:ext cx="9337937" cy="4525210"/>
        </p:xfrm>
        <a:graphic>
          <a:graphicData uri="http://schemas.openxmlformats.org/drawingml/2006/table">
            <a:tbl>
              <a:tblPr/>
              <a:tblGrid>
                <a:gridCol w="3272005">
                  <a:extLst>
                    <a:ext uri="{9D8B030D-6E8A-4147-A177-3AD203B41FA5}">
                      <a16:colId xmlns:a16="http://schemas.microsoft.com/office/drawing/2014/main" val="1205708741"/>
                    </a:ext>
                  </a:extLst>
                </a:gridCol>
                <a:gridCol w="6065932">
                  <a:extLst>
                    <a:ext uri="{9D8B030D-6E8A-4147-A177-3AD203B41FA5}">
                      <a16:colId xmlns:a16="http://schemas.microsoft.com/office/drawing/2014/main" val="3622143527"/>
                    </a:ext>
                  </a:extLst>
                </a:gridCol>
              </a:tblGrid>
              <a:tr h="298049">
                <a:tc>
                  <a:txBody>
                    <a:bodyPr/>
                    <a:lstStyle/>
                    <a:p>
                      <a:r>
                        <a:rPr lang="en-US" sz="1200" b="1" dirty="0" err="1">
                          <a:latin typeface="Calibri" panose="020F0502020204030204" pitchFamily="34" charset="0"/>
                          <a:ea typeface="Calibri" panose="020F0502020204030204" pitchFamily="34" charset="0"/>
                          <a:cs typeface="Calibri" panose="020F0502020204030204" pitchFamily="34" charset="0"/>
                        </a:rPr>
                        <a:t>Giai</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đoạn</a:t>
                      </a:r>
                      <a:endParaRPr lang="en-US" sz="1200" b="1"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latin typeface="Calibri" panose="020F0502020204030204" pitchFamily="34" charset="0"/>
                          <a:ea typeface="Calibri" panose="020F0502020204030204" pitchFamily="34" charset="0"/>
                          <a:cs typeface="Calibri" panose="020F0502020204030204" pitchFamily="34" charset="0"/>
                        </a:rPr>
                        <a:t>Kết</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quả</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đầu</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ra</a:t>
                      </a:r>
                      <a:endParaRPr lang="en-US" sz="1200" b="1"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9115999"/>
                  </a:ext>
                </a:extLst>
              </a:tr>
              <a:tr h="491139">
                <a:tc>
                  <a:txBody>
                    <a:bodyPr/>
                    <a:lstStyle/>
                    <a:p>
                      <a:r>
                        <a:rPr lang="en-US" sz="1200" b="1" dirty="0" err="1">
                          <a:latin typeface="Calibri" panose="020F0502020204030204" pitchFamily="34" charset="0"/>
                          <a:ea typeface="Calibri" panose="020F0502020204030204" pitchFamily="34" charset="0"/>
                          <a:cs typeface="Calibri" panose="020F0502020204030204" pitchFamily="34" charset="0"/>
                        </a:rPr>
                        <a:t>Khởi</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tạo</a:t>
                      </a:r>
                      <a:r>
                        <a:rPr lang="en-US" sz="1200" b="1" dirty="0">
                          <a:latin typeface="Calibri" panose="020F0502020204030204" pitchFamily="34" charset="0"/>
                          <a:ea typeface="Calibri" panose="020F0502020204030204" pitchFamily="34" charset="0"/>
                          <a:cs typeface="Calibri" panose="020F0502020204030204" pitchFamily="34" charset="0"/>
                        </a:rPr>
                        <a:t> (Initiation)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latin typeface="Calibri" panose="020F0502020204030204" pitchFamily="34" charset="0"/>
                          <a:ea typeface="Calibri" panose="020F0502020204030204" pitchFamily="34" charset="0"/>
                          <a:cs typeface="Calibri" panose="020F0502020204030204" pitchFamily="34" charset="0"/>
                        </a:rPr>
                        <a:t>Các</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tài</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liệu</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kinh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doanh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xác</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định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nhu</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cầu</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nghiệp</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vụ</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928226"/>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Yêu cầu (Requirements)</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200">
                          <a:latin typeface="Calibri" panose="020F0502020204030204" pitchFamily="34" charset="0"/>
                          <a:ea typeface="Calibri" panose="020F0502020204030204" pitchFamily="34" charset="0"/>
                          <a:cs typeface="Calibri" panose="020F0502020204030204" pitchFamily="34" charset="0"/>
                        </a:rPr>
                        <a:t>Phỏng vấn các bên liên quan, khảo sát môi trường hệ thống</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961703"/>
                  </a:ext>
                </a:extLst>
              </a:tr>
              <a:tr h="491139">
                <a:tc>
                  <a:txBody>
                    <a:bodyPr/>
                    <a:lstStyle/>
                    <a:p>
                      <a:r>
                        <a:rPr lang="en-US" sz="1200" b="1" dirty="0" err="1">
                          <a:latin typeface="Calibri" panose="020F0502020204030204" pitchFamily="34" charset="0"/>
                          <a:ea typeface="Calibri" panose="020F0502020204030204" pitchFamily="34" charset="0"/>
                          <a:cs typeface="Calibri" panose="020F0502020204030204" pitchFamily="34" charset="0"/>
                        </a:rPr>
                        <a:t>Đặc</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tả</a:t>
                      </a:r>
                      <a:r>
                        <a:rPr lang="en-US" sz="1200" b="1" dirty="0">
                          <a:latin typeface="Calibri" panose="020F0502020204030204" pitchFamily="34" charset="0"/>
                          <a:ea typeface="Calibri" panose="020F0502020204030204" pitchFamily="34" charset="0"/>
                          <a:cs typeface="Calibri" panose="020F0502020204030204" pitchFamily="34" charset="0"/>
                        </a:rPr>
                        <a:t> (Specification)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latin typeface="Calibri" panose="020F0502020204030204" pitchFamily="34" charset="0"/>
                          <a:ea typeface="Calibri" panose="020F0502020204030204" pitchFamily="34" charset="0"/>
                          <a:cs typeface="Calibri" panose="020F0502020204030204" pitchFamily="34" charset="0"/>
                        </a:rPr>
                        <a:t>Phân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tích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kỹ</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thuật</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xây</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dựng</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khái</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niệm</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hệ</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thống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9623105"/>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Thiết kế (Design)</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latin typeface="Calibri" panose="020F0502020204030204" pitchFamily="34" charset="0"/>
                          <a:ea typeface="Calibri" panose="020F0502020204030204" pitchFamily="34" charset="0"/>
                          <a:cs typeface="Calibri" panose="020F0502020204030204" pitchFamily="34" charset="0"/>
                        </a:rPr>
                        <a:t>Xác định kiến trúc, thành phần, kiểu dữ liệu, thuật toán</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045605"/>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Triển khai (Implementation)</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200">
                          <a:latin typeface="Calibri" panose="020F0502020204030204" pitchFamily="34" charset="0"/>
                          <a:ea typeface="Calibri" panose="020F0502020204030204" pitchFamily="34" charset="0"/>
                          <a:cs typeface="Calibri" panose="020F0502020204030204" pitchFamily="34" charset="0"/>
                        </a:rPr>
                        <a:t>Lập trình, xây dựng, kiểm thử đơn vị, tích hợp, tài liệu</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996647"/>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Kiểm thử &amp; tích hợp (Testing &amp; Integration)</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200" dirty="0">
                          <a:latin typeface="Calibri" panose="020F0502020204030204" pitchFamily="34" charset="0"/>
                          <a:ea typeface="Calibri" panose="020F0502020204030204" pitchFamily="34" charset="0"/>
                          <a:cs typeface="Calibri" panose="020F0502020204030204" pitchFamily="34" charset="0"/>
                        </a:rPr>
                        <a:t>Tích hợp các thành phần, xác minh, xác thực, cài đặt, hướng dẫn</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533105"/>
                  </a:ext>
                </a:extLst>
              </a:tr>
              <a:tr h="29804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Bảo trì (Maintenance)</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latin typeface="Calibri" panose="020F0502020204030204" pitchFamily="34" charset="0"/>
                          <a:ea typeface="Calibri" panose="020F0502020204030204" pitchFamily="34" charset="0"/>
                          <a:cs typeface="Calibri" panose="020F0502020204030204" pitchFamily="34" charset="0"/>
                        </a:rPr>
                        <a:t>Sửa</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lỗi</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chỉnh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sửa</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thích</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nghi</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hệ</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thống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856209"/>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Hành động đầu ra (Outcome Actions Phase)</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latin typeface="Calibri" panose="020F0502020204030204" pitchFamily="34" charset="0"/>
                          <a:ea typeface="Calibri" panose="020F0502020204030204" pitchFamily="34" charset="0"/>
                          <a:cs typeface="Calibri" panose="020F0502020204030204" pitchFamily="34" charset="0"/>
                        </a:rPr>
                        <a:t>Phiên bản hệ thống, kết quả kiểm thử, hệ thống hoạt động, hệ thống có thể kiểm thử</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1685223"/>
                  </a:ext>
                </a:extLst>
              </a:tr>
              <a:tr h="491139">
                <a:tc>
                  <a:txBody>
                    <a:bodyPr/>
                    <a:lstStyle/>
                    <a:p>
                      <a:r>
                        <a:rPr lang="en-US" sz="1200" b="1">
                          <a:latin typeface="Calibri" panose="020F0502020204030204" pitchFamily="34" charset="0"/>
                          <a:ea typeface="Calibri" panose="020F0502020204030204" pitchFamily="34" charset="0"/>
                          <a:cs typeface="Calibri" panose="020F0502020204030204" pitchFamily="34" charset="0"/>
                        </a:rPr>
                        <a:t>Đặc tả hình thức (Formal Specification)</a:t>
                      </a:r>
                      <a:endParaRPr lang="en-US" sz="1200">
                        <a:latin typeface="Calibri" panose="020F0502020204030204" pitchFamily="34" charset="0"/>
                        <a:ea typeface="Calibri" panose="020F0502020204030204" pitchFamily="34" charset="0"/>
                        <a:cs typeface="Calibri" panose="020F0502020204030204" pitchFamily="34" charset="0"/>
                      </a:endParaRP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200" dirty="0">
                          <a:latin typeface="Calibri" panose="020F0502020204030204" pitchFamily="34" charset="0"/>
                          <a:ea typeface="Calibri" panose="020F0502020204030204" pitchFamily="34" charset="0"/>
                          <a:cs typeface="Calibri" panose="020F0502020204030204" pitchFamily="34" charset="0"/>
                        </a:rPr>
                        <a:t>Tài liệu đặc tả chính thức, tài liệu được tổ chức rõ ràng</a:t>
                      </a:r>
                    </a:p>
                  </a:txBody>
                  <a:tcPr marL="65698" marR="65698" marT="32849" marB="32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031861"/>
                  </a:ext>
                </a:extLst>
              </a:tr>
            </a:tbl>
          </a:graphicData>
        </a:graphic>
      </p:graphicFrame>
    </p:spTree>
    <p:extLst>
      <p:ext uri="{BB962C8B-B14F-4D97-AF65-F5344CB8AC3E}">
        <p14:creationId xmlns:p14="http://schemas.microsoft.com/office/powerpoint/2010/main" val="3284281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EA046-E347-4657-473A-D0726B1EA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C5612-C8ED-B30C-E0F8-7D04CB6B4612}"/>
              </a:ext>
            </a:extLst>
          </p:cNvPr>
          <p:cNvSpPr>
            <a:spLocks noGrp="1"/>
          </p:cNvSpPr>
          <p:nvPr>
            <p:ph type="title"/>
          </p:nvPr>
        </p:nvSpPr>
        <p:spPr/>
        <p:txBody>
          <a:bodyPr/>
          <a:lstStyle/>
          <a:p>
            <a:pPr algn="ctr"/>
            <a:r>
              <a:rPr lang="vi-VN"/>
              <a:t>Thành phần cơ bản của Sơ đồ tuần tự (Sequence Diagram)</a:t>
            </a:r>
            <a:endParaRPr lang="en-US" sz="4000" b="1">
              <a:latin typeface="Arial"/>
              <a:cs typeface="+mn-ea"/>
            </a:endParaRPr>
          </a:p>
        </p:txBody>
      </p:sp>
      <p:sp>
        <p:nvSpPr>
          <p:cNvPr id="4" name="Slide Number Placeholder 3">
            <a:extLst>
              <a:ext uri="{FF2B5EF4-FFF2-40B4-BE49-F238E27FC236}">
                <a16:creationId xmlns:a16="http://schemas.microsoft.com/office/drawing/2014/main" id="{ADF3B226-6D3F-EA20-954D-456605D29A41}"/>
              </a:ext>
            </a:extLst>
          </p:cNvPr>
          <p:cNvSpPr>
            <a:spLocks noGrp="1"/>
          </p:cNvSpPr>
          <p:nvPr>
            <p:ph type="sldNum" sz="quarter" idx="12"/>
          </p:nvPr>
        </p:nvSpPr>
        <p:spPr/>
        <p:txBody>
          <a:bodyPr/>
          <a:lstStyle/>
          <a:p>
            <a:fld id="{87E7843D-FF13-4365-9478-9625B70A2705}" type="slidenum">
              <a:rPr lang="en-US" smtClean="0"/>
              <a:t>7</a:t>
            </a:fld>
            <a:endParaRPr lang="en-US"/>
          </a:p>
        </p:txBody>
      </p:sp>
      <p:sp>
        <p:nvSpPr>
          <p:cNvPr id="9" name="Rectangle 3">
            <a:extLst>
              <a:ext uri="{FF2B5EF4-FFF2-40B4-BE49-F238E27FC236}">
                <a16:creationId xmlns:a16="http://schemas.microsoft.com/office/drawing/2014/main" id="{15D87B31-6279-FA92-7882-29C88CFE3D1D}"/>
              </a:ext>
            </a:extLst>
          </p:cNvPr>
          <p:cNvSpPr>
            <a:spLocks noGrp="1" noChangeArrowheads="1"/>
          </p:cNvSpPr>
          <p:nvPr>
            <p:ph idx="1"/>
          </p:nvPr>
        </p:nvSpPr>
        <p:spPr bwMode="auto">
          <a:xfrm>
            <a:off x="1484311" y="2459504"/>
            <a:ext cx="868154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i="0" u="none" strike="noStrike" cap="none" normalizeH="0" baseline="0">
                <a:ln>
                  <a:noFill/>
                </a:ln>
                <a:solidFill>
                  <a:schemeClr val="tx1"/>
                </a:solidFill>
                <a:effectLst/>
                <a:latin typeface="Arial" panose="020B0604020202020204" pitchFamily="34" charset="0"/>
                <a:cs typeface="Arial" panose="020B0604020202020204" pitchFamily="34" charset="0"/>
              </a:rPr>
              <a:t>Đối tượng (Objects)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i="0" u="none" strike="noStrike" cap="none" normalizeH="0" baseline="0">
                <a:ln>
                  <a:noFill/>
                </a:ln>
                <a:solidFill>
                  <a:schemeClr val="tx1"/>
                </a:solidFill>
                <a:effectLst/>
                <a:latin typeface="Arial" panose="020B0604020202020204" pitchFamily="34" charset="0"/>
                <a:cs typeface="Arial" panose="020B0604020202020204" pitchFamily="34" charset="0"/>
              </a:rPr>
              <a:t>Đại diện cho thành phần tham gia tương tác trong hệ thống (class, actor...).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i="0" u="none" strike="noStrike" cap="none" normalizeH="0" baseline="0">
                <a:ln>
                  <a:noFill/>
                </a:ln>
                <a:solidFill>
                  <a:schemeClr val="tx1"/>
                </a:solidFill>
                <a:effectLst/>
                <a:latin typeface="Arial" panose="020B0604020202020204" pitchFamily="34" charset="0"/>
                <a:cs typeface="Arial" panose="020B0604020202020204" pitchFamily="34" charset="0"/>
              </a:rPr>
              <a:t>Được biểu diễn bằng hình chữ nhật, kèm tên đối tượng (ví dụ: User, System).</a:t>
            </a:r>
          </a:p>
        </p:txBody>
      </p:sp>
      <p:pic>
        <p:nvPicPr>
          <p:cNvPr id="11" name="Picture 10">
            <a:extLst>
              <a:ext uri="{FF2B5EF4-FFF2-40B4-BE49-F238E27FC236}">
                <a16:creationId xmlns:a16="http://schemas.microsoft.com/office/drawing/2014/main" id="{4D055B68-FE3D-E767-C2EB-B4BC7A08149D}"/>
              </a:ext>
            </a:extLst>
          </p:cNvPr>
          <p:cNvPicPr>
            <a:picLocks noChangeAspect="1"/>
          </p:cNvPicPr>
          <p:nvPr/>
        </p:nvPicPr>
        <p:blipFill>
          <a:blip r:embed="rId2"/>
          <a:stretch>
            <a:fillRect/>
          </a:stretch>
        </p:blipFill>
        <p:spPr>
          <a:xfrm>
            <a:off x="1551879" y="3642613"/>
            <a:ext cx="8681545" cy="3215387"/>
          </a:xfrm>
          <a:prstGeom prst="rect">
            <a:avLst/>
          </a:prstGeom>
        </p:spPr>
      </p:pic>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4397797C-3C44-E88B-B33A-0F211126B608}"/>
                  </a:ext>
                </a:extLst>
              </p14:cNvPr>
              <p14:cNvContentPartPr/>
              <p14:nvPr/>
            </p14:nvContentPartPr>
            <p14:xfrm>
              <a:off x="9688874" y="3613458"/>
              <a:ext cx="1108440" cy="369720"/>
            </p14:xfrm>
          </p:contentPart>
        </mc:Choice>
        <mc:Fallback xmlns="">
          <p:pic>
            <p:nvPicPr>
              <p:cNvPr id="19" name="Ink 18">
                <a:extLst>
                  <a:ext uri="{FF2B5EF4-FFF2-40B4-BE49-F238E27FC236}">
                    <a16:creationId xmlns:a16="http://schemas.microsoft.com/office/drawing/2014/main" id="{4397797C-3C44-E88B-B33A-0F211126B608}"/>
                  </a:ext>
                </a:extLst>
              </p:cNvPr>
              <p:cNvPicPr/>
              <p:nvPr/>
            </p:nvPicPr>
            <p:blipFill>
              <a:blip r:embed="rId4"/>
              <a:stretch>
                <a:fillRect/>
              </a:stretch>
            </p:blipFill>
            <p:spPr>
              <a:xfrm>
                <a:off x="9682754" y="3607338"/>
                <a:ext cx="1120680" cy="381960"/>
              </a:xfrm>
              <a:prstGeom prst="rect">
                <a:avLst/>
              </a:prstGeom>
            </p:spPr>
          </p:pic>
        </mc:Fallback>
      </mc:AlternateContent>
      <p:sp>
        <p:nvSpPr>
          <p:cNvPr id="20" name="Rectangle 19">
            <a:extLst>
              <a:ext uri="{FF2B5EF4-FFF2-40B4-BE49-F238E27FC236}">
                <a16:creationId xmlns:a16="http://schemas.microsoft.com/office/drawing/2014/main" id="{2F1FBB88-6786-BE0E-577F-1D1DF04FA770}"/>
              </a:ext>
            </a:extLst>
          </p:cNvPr>
          <p:cNvSpPr/>
          <p:nvPr/>
        </p:nvSpPr>
        <p:spPr>
          <a:xfrm>
            <a:off x="10797313" y="2971800"/>
            <a:ext cx="1108439" cy="670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altLang="en-US" sz="1800" i="0" u="none" strike="noStrike" cap="none" normalizeH="0" baseline="0">
                <a:ln>
                  <a:noFill/>
                </a:ln>
                <a:solidFill>
                  <a:schemeClr val="tx1"/>
                </a:solidFill>
                <a:effectLst/>
                <a:latin typeface="Arial" panose="020B0604020202020204" pitchFamily="34" charset="0"/>
                <a:cs typeface="Arial" panose="020B0604020202020204" pitchFamily="34" charset="0"/>
              </a:rPr>
              <a:t>Objects</a:t>
            </a:r>
            <a:endParaRPr lang="en-US"/>
          </a:p>
        </p:txBody>
      </p:sp>
    </p:spTree>
    <p:extLst>
      <p:ext uri="{BB962C8B-B14F-4D97-AF65-F5344CB8AC3E}">
        <p14:creationId xmlns:p14="http://schemas.microsoft.com/office/powerpoint/2010/main" val="2057963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F81B-F8E6-E301-DF9A-051B681B5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A595E-FFEC-5A57-CB2D-61F0B9BB7331}"/>
              </a:ext>
            </a:extLst>
          </p:cNvPr>
          <p:cNvSpPr>
            <a:spLocks noGrp="1"/>
          </p:cNvSpPr>
          <p:nvPr>
            <p:ph type="title"/>
          </p:nvPr>
        </p:nvSpPr>
        <p:spPr/>
        <p:txBody>
          <a:bodyPr>
            <a:normAutofit/>
          </a:bodyPr>
          <a:lstStyle/>
          <a:p>
            <a:pPr>
              <a:buNone/>
            </a:pPr>
            <a:r>
              <a:rPr lang="en-US" b="1"/>
              <a:t>Một số khái niệm - Cấu trúc trong kiến trúc phần mềm</a:t>
            </a:r>
            <a:endParaRPr lang="en-US"/>
          </a:p>
        </p:txBody>
      </p:sp>
      <p:sp>
        <p:nvSpPr>
          <p:cNvPr id="4" name="Slide Number Placeholder 3">
            <a:extLst>
              <a:ext uri="{FF2B5EF4-FFF2-40B4-BE49-F238E27FC236}">
                <a16:creationId xmlns:a16="http://schemas.microsoft.com/office/drawing/2014/main" id="{26EAA8AA-06F6-5748-17A9-1C229237CBF4}"/>
              </a:ext>
            </a:extLst>
          </p:cNvPr>
          <p:cNvSpPr>
            <a:spLocks noGrp="1"/>
          </p:cNvSpPr>
          <p:nvPr>
            <p:ph type="sldNum" sz="quarter" idx="12"/>
          </p:nvPr>
        </p:nvSpPr>
        <p:spPr/>
        <p:txBody>
          <a:bodyPr/>
          <a:lstStyle/>
          <a:p>
            <a:fld id="{87E7843D-FF13-4365-9478-9625B70A2705}" type="slidenum">
              <a:rPr lang="en-US" smtClean="0"/>
              <a:t>8</a:t>
            </a:fld>
            <a:endParaRPr lang="en-US"/>
          </a:p>
        </p:txBody>
      </p:sp>
      <p:sp>
        <p:nvSpPr>
          <p:cNvPr id="11" name="Rectangle 3">
            <a:extLst>
              <a:ext uri="{FF2B5EF4-FFF2-40B4-BE49-F238E27FC236}">
                <a16:creationId xmlns:a16="http://schemas.microsoft.com/office/drawing/2014/main" id="{71E61DC6-BA8F-C5F7-780E-DA498FC294A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Cấu trúc (Structure):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Tập các phần tử (elements) và cách tổ chức chúng.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Ba loại cấu trúc:</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Cấu trúc mô đun (Module Structures)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Cấu trúc thành phần – kết nối (Component-and-Connector Structures)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Cấu trúc phân phối (Allocation Structures)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Mỗi loại cấu trúc thể hiện một khía cạnh khác nhau và có liên quan với nhau.</a:t>
            </a:r>
          </a:p>
        </p:txBody>
      </p:sp>
    </p:spTree>
    <p:extLst>
      <p:ext uri="{BB962C8B-B14F-4D97-AF65-F5344CB8AC3E}">
        <p14:creationId xmlns:p14="http://schemas.microsoft.com/office/powerpoint/2010/main" val="4182001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16D9-4D57-607C-06B8-A68D66DC3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CED87-8A70-4640-5979-0976CD1AD015}"/>
              </a:ext>
            </a:extLst>
          </p:cNvPr>
          <p:cNvSpPr>
            <a:spLocks noGrp="1"/>
          </p:cNvSpPr>
          <p:nvPr>
            <p:ph type="title"/>
          </p:nvPr>
        </p:nvSpPr>
        <p:spPr/>
        <p:txBody>
          <a:bodyPr/>
          <a:lstStyle/>
          <a:p>
            <a:pPr algn="ctr"/>
            <a:r>
              <a:rPr lang="en-US"/>
              <a:t>Một số khái niệm - Mẫu kiến trúc (Architectural Patterns)</a:t>
            </a:r>
            <a:endParaRPr lang="en-US" sz="4000" b="1">
              <a:latin typeface="Arial"/>
              <a:cs typeface="+mn-ea"/>
            </a:endParaRPr>
          </a:p>
        </p:txBody>
      </p:sp>
      <p:sp>
        <p:nvSpPr>
          <p:cNvPr id="4" name="Slide Number Placeholder 3">
            <a:extLst>
              <a:ext uri="{FF2B5EF4-FFF2-40B4-BE49-F238E27FC236}">
                <a16:creationId xmlns:a16="http://schemas.microsoft.com/office/drawing/2014/main" id="{1312C7ED-AF43-7F96-EBC6-3A6EDA4E945E}"/>
              </a:ext>
            </a:extLst>
          </p:cNvPr>
          <p:cNvSpPr>
            <a:spLocks noGrp="1"/>
          </p:cNvSpPr>
          <p:nvPr>
            <p:ph type="sldNum" sz="quarter" idx="12"/>
          </p:nvPr>
        </p:nvSpPr>
        <p:spPr/>
        <p:txBody>
          <a:bodyPr/>
          <a:lstStyle/>
          <a:p>
            <a:fld id="{87E7843D-FF13-4365-9478-9625B70A2705}" type="slidenum">
              <a:rPr lang="en-US" smtClean="0"/>
              <a:t>9</a:t>
            </a:fld>
            <a:endParaRPr lang="en-US"/>
          </a:p>
        </p:txBody>
      </p:sp>
      <p:sp>
        <p:nvSpPr>
          <p:cNvPr id="8" name="Rectangle 1">
            <a:extLst>
              <a:ext uri="{FF2B5EF4-FFF2-40B4-BE49-F238E27FC236}">
                <a16:creationId xmlns:a16="http://schemas.microsoft.com/office/drawing/2014/main" id="{9F5474A8-5386-9975-6D9A-871F0F47A804}"/>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Mẫu kiến trúc:</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Kiến trúc đã được áp dụng thành công nhiều lần để giải quyết các vấn đề phổ biến trong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Ví dụ:</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Phân lớp (Layered Pattern)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Chia sẻ dữ liệu (Shared-Data)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Khách - chủ (Client-Server)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7384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03C40-B28C-4EA1-5D9C-58A96FC9B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E12DD-2672-09E2-524E-D01B0BC70461}"/>
              </a:ext>
            </a:extLst>
          </p:cNvPr>
          <p:cNvSpPr>
            <a:spLocks noGrp="1"/>
          </p:cNvSpPr>
          <p:nvPr>
            <p:ph type="title"/>
          </p:nvPr>
        </p:nvSpPr>
        <p:spPr/>
        <p:txBody>
          <a:bodyPr/>
          <a:lstStyle/>
          <a:p>
            <a:pPr algn="ctr"/>
            <a:r>
              <a:rPr lang="vi-VN"/>
              <a:t>Một số khái niệm - Thuộc tính chất lượng</a:t>
            </a:r>
            <a:endParaRPr lang="en-US" sz="4000" b="1">
              <a:latin typeface="Arial"/>
              <a:cs typeface="+mn-ea"/>
            </a:endParaRPr>
          </a:p>
        </p:txBody>
      </p:sp>
      <p:sp>
        <p:nvSpPr>
          <p:cNvPr id="4" name="Slide Number Placeholder 3">
            <a:extLst>
              <a:ext uri="{FF2B5EF4-FFF2-40B4-BE49-F238E27FC236}">
                <a16:creationId xmlns:a16="http://schemas.microsoft.com/office/drawing/2014/main" id="{C32C1C03-1446-7C6D-A63F-AE407595A0EE}"/>
              </a:ext>
            </a:extLst>
          </p:cNvPr>
          <p:cNvSpPr>
            <a:spLocks noGrp="1"/>
          </p:cNvSpPr>
          <p:nvPr>
            <p:ph type="sldNum" sz="quarter" idx="12"/>
          </p:nvPr>
        </p:nvSpPr>
        <p:spPr/>
        <p:txBody>
          <a:bodyPr/>
          <a:lstStyle/>
          <a:p>
            <a:fld id="{87E7843D-FF13-4365-9478-9625B70A2705}" type="slidenum">
              <a:rPr lang="en-US" smtClean="0"/>
              <a:t>10</a:t>
            </a:fld>
            <a:endParaRPr lang="en-US"/>
          </a:p>
        </p:txBody>
      </p:sp>
      <p:sp>
        <p:nvSpPr>
          <p:cNvPr id="3" name="Content Placeholder 2">
            <a:extLst>
              <a:ext uri="{FF2B5EF4-FFF2-40B4-BE49-F238E27FC236}">
                <a16:creationId xmlns:a16="http://schemas.microsoft.com/office/drawing/2014/main" id="{A1925488-21C2-12B9-48BE-CA5C46821ADF}"/>
              </a:ext>
            </a:extLst>
          </p:cNvPr>
          <p:cNvSpPr>
            <a:spLocks noGrp="1"/>
          </p:cNvSpPr>
          <p:nvPr>
            <p:ph idx="1"/>
          </p:nvPr>
        </p:nvSpPr>
        <p:spPr/>
        <p:txBody>
          <a:bodyPr>
            <a:normAutofit fontScale="92500" lnSpcReduction="20000"/>
          </a:bodyPr>
          <a:lstStyle/>
          <a:p>
            <a:pPr>
              <a:buNone/>
            </a:pPr>
            <a:r>
              <a:rPr lang="vi-VN" b="1"/>
              <a:t>1. Tính linh hoạt (Flexibility):</a:t>
            </a:r>
          </a:p>
          <a:p>
            <a:pPr marL="742950" lvl="1" indent="-285750">
              <a:buFont typeface="Arial" panose="020B0604020202020204" pitchFamily="34" charset="0"/>
              <a:buChar char="•"/>
            </a:pPr>
            <a:r>
              <a:rPr lang="vi-VN"/>
              <a:t>Liệu hệ thống có thể thay đổi, thay thế hoặc cập nhật các thành phần mà không gây ảnh hưởng đến phần còn lại của hệ thống?</a:t>
            </a:r>
          </a:p>
          <a:p>
            <a:pPr>
              <a:buNone/>
            </a:pPr>
            <a:r>
              <a:rPr lang="vi-VN" b="1"/>
              <a:t>2. Tính khả chuyển (Portability):</a:t>
            </a:r>
          </a:p>
          <a:p>
            <a:pPr marL="742950" lvl="1" indent="-285750">
              <a:buFont typeface="Arial" panose="020B0604020202020204" pitchFamily="34" charset="0"/>
              <a:buChar char="•"/>
            </a:pPr>
            <a:r>
              <a:rPr lang="vi-VN"/>
              <a:t>Hệ thống có thể chạy trên các nền tảng khác nhau mà không gặp phải vấn đề lớn về tương thích?</a:t>
            </a:r>
          </a:p>
          <a:p>
            <a:pPr>
              <a:buNone/>
            </a:pPr>
            <a:r>
              <a:rPr lang="vi-VN" b="1"/>
              <a:t>3. Tính sử dụng lại (Reusability):</a:t>
            </a:r>
          </a:p>
          <a:p>
            <a:pPr marL="742950" lvl="1" indent="-285750">
              <a:buFont typeface="Arial" panose="020B0604020202020204" pitchFamily="34" charset="0"/>
              <a:buChar char="•"/>
            </a:pPr>
            <a:r>
              <a:rPr lang="vi-VN"/>
              <a:t>Các thành phần của hệ thống có thể được tái sử dụng cho các ứng dụng khác mà không cần thiết kế lại từ đầu?</a:t>
            </a:r>
          </a:p>
          <a:p>
            <a:endParaRPr lang="en-US"/>
          </a:p>
        </p:txBody>
      </p:sp>
    </p:spTree>
    <p:extLst>
      <p:ext uri="{BB962C8B-B14F-4D97-AF65-F5344CB8AC3E}">
        <p14:creationId xmlns:p14="http://schemas.microsoft.com/office/powerpoint/2010/main" val="3875047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28190-E8D7-D41D-8B73-F7622B2F1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967AF-420D-92EA-26DB-38F57DFC69CD}"/>
              </a:ext>
            </a:extLst>
          </p:cNvPr>
          <p:cNvSpPr>
            <a:spLocks noGrp="1"/>
          </p:cNvSpPr>
          <p:nvPr>
            <p:ph type="title"/>
          </p:nvPr>
        </p:nvSpPr>
        <p:spPr/>
        <p:txBody>
          <a:bodyPr/>
          <a:lstStyle/>
          <a:p>
            <a:pPr algn="ctr"/>
            <a:r>
              <a:rPr lang="vi-VN"/>
              <a:t>Kiến trúc và thuộc tính chất lượng</a:t>
            </a:r>
            <a:endParaRPr lang="en-US" sz="4000" b="1">
              <a:latin typeface="Arial"/>
              <a:cs typeface="+mn-ea"/>
            </a:endParaRPr>
          </a:p>
        </p:txBody>
      </p:sp>
      <p:sp>
        <p:nvSpPr>
          <p:cNvPr id="4" name="Slide Number Placeholder 3">
            <a:extLst>
              <a:ext uri="{FF2B5EF4-FFF2-40B4-BE49-F238E27FC236}">
                <a16:creationId xmlns:a16="http://schemas.microsoft.com/office/drawing/2014/main" id="{EBB647F9-F99F-D28F-1144-D143061705BA}"/>
              </a:ext>
            </a:extLst>
          </p:cNvPr>
          <p:cNvSpPr>
            <a:spLocks noGrp="1"/>
          </p:cNvSpPr>
          <p:nvPr>
            <p:ph type="sldNum" sz="quarter" idx="12"/>
          </p:nvPr>
        </p:nvSpPr>
        <p:spPr/>
        <p:txBody>
          <a:bodyPr/>
          <a:lstStyle/>
          <a:p>
            <a:fld id="{87E7843D-FF13-4365-9478-9625B70A2705}" type="slidenum">
              <a:rPr lang="en-US" smtClean="0"/>
              <a:t>11</a:t>
            </a:fld>
            <a:endParaRPr lang="en-US"/>
          </a:p>
        </p:txBody>
      </p:sp>
      <p:sp>
        <p:nvSpPr>
          <p:cNvPr id="5" name="Content Placeholder 4">
            <a:extLst>
              <a:ext uri="{FF2B5EF4-FFF2-40B4-BE49-F238E27FC236}">
                <a16:creationId xmlns:a16="http://schemas.microsoft.com/office/drawing/2014/main" id="{31FF5E60-4688-3735-E1A8-061306EAFAE9}"/>
              </a:ext>
            </a:extLst>
          </p:cNvPr>
          <p:cNvSpPr>
            <a:spLocks noGrp="1"/>
          </p:cNvSpPr>
          <p:nvPr>
            <p:ph idx="1"/>
          </p:nvPr>
        </p:nvSpPr>
        <p:spPr>
          <a:xfrm>
            <a:off x="1484310" y="2742930"/>
            <a:ext cx="10018713" cy="3124201"/>
          </a:xfrm>
        </p:spPr>
        <p:txBody>
          <a:bodyPr>
            <a:normAutofit fontScale="92500" lnSpcReduction="10000"/>
          </a:bodyPr>
          <a:lstStyle/>
          <a:p>
            <a:pPr>
              <a:buNone/>
            </a:pPr>
            <a:r>
              <a:rPr lang="vi-VN" b="1"/>
              <a:t>Để đạt hiệu năng cao (Performance):</a:t>
            </a:r>
          </a:p>
          <a:p>
            <a:pPr>
              <a:buFont typeface="Arial" panose="020B0604020202020204" pitchFamily="34" charset="0"/>
              <a:buChar char="•"/>
            </a:pPr>
            <a:r>
              <a:rPr lang="vi-VN" b="1"/>
              <a:t>Phân rã tiến trình song song:</a:t>
            </a:r>
            <a:endParaRPr lang="vi-VN"/>
          </a:p>
          <a:p>
            <a:pPr marL="742950" lvl="1" indent="-285750">
              <a:buFont typeface="Arial" panose="020B0604020202020204" pitchFamily="34" charset="0"/>
              <a:buChar char="•"/>
            </a:pPr>
            <a:r>
              <a:rPr lang="vi-VN"/>
              <a:t>Chia nhỏ các tác vụ thành các tiến trình có thể chạy đồng thời để tăng tốc độ xử lý.</a:t>
            </a:r>
          </a:p>
          <a:p>
            <a:pPr>
              <a:buFont typeface="Arial" panose="020B0604020202020204" pitchFamily="34" charset="0"/>
              <a:buChar char="•"/>
            </a:pPr>
            <a:r>
              <a:rPr lang="vi-VN" b="1"/>
              <a:t>Quản lý dữ liệu truyền nhận:</a:t>
            </a:r>
            <a:endParaRPr lang="vi-VN"/>
          </a:p>
          <a:p>
            <a:pPr marL="742950" lvl="1" indent="-285750">
              <a:buFont typeface="Arial" panose="020B0604020202020204" pitchFamily="34" charset="0"/>
              <a:buChar char="•"/>
            </a:pPr>
            <a:r>
              <a:rPr lang="vi-VN"/>
              <a:t>Kiểm soát lưu lượng và tần suất dữ liệu giữa các tiến trình để tránh tắc nghẽn.</a:t>
            </a:r>
          </a:p>
          <a:p>
            <a:pPr>
              <a:buFont typeface="Arial" panose="020B0604020202020204" pitchFamily="34" charset="0"/>
              <a:buChar char="•"/>
            </a:pPr>
            <a:r>
              <a:rPr lang="vi-VN" b="1"/>
              <a:t>Xác định "nút cổ chai" (Bottleneck):</a:t>
            </a:r>
            <a:endParaRPr lang="vi-VN"/>
          </a:p>
          <a:p>
            <a:pPr marL="742950" lvl="1" indent="-285750">
              <a:buFont typeface="Arial" panose="020B0604020202020204" pitchFamily="34" charset="0"/>
              <a:buChar char="•"/>
            </a:pPr>
            <a:r>
              <a:rPr lang="vi-VN"/>
              <a:t>Tìm ra các điểm trong hệ thống có thể làm giảm hiệu suất, từ đó cải tiến.</a:t>
            </a:r>
          </a:p>
          <a:p>
            <a:endParaRPr lang="en-US"/>
          </a:p>
        </p:txBody>
      </p:sp>
    </p:spTree>
    <p:extLst>
      <p:ext uri="{BB962C8B-B14F-4D97-AF65-F5344CB8AC3E}">
        <p14:creationId xmlns:p14="http://schemas.microsoft.com/office/powerpoint/2010/main" val="3418920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840D1-1378-C32B-46C2-ED34CB494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26709-B15D-15EF-1CD6-4FCF8BF37646}"/>
              </a:ext>
            </a:extLst>
          </p:cNvPr>
          <p:cNvSpPr>
            <a:spLocks noGrp="1"/>
          </p:cNvSpPr>
          <p:nvPr>
            <p:ph type="title"/>
          </p:nvPr>
        </p:nvSpPr>
        <p:spPr/>
        <p:txBody>
          <a:bodyPr/>
          <a:lstStyle/>
          <a:p>
            <a:pPr algn="ctr"/>
            <a:r>
              <a:rPr lang="vi-VN"/>
              <a:t>Kiến trúc và thuộc tính chất lượng</a:t>
            </a:r>
            <a:endParaRPr lang="en-US" sz="4000" b="1">
              <a:latin typeface="Arial"/>
              <a:cs typeface="+mn-ea"/>
            </a:endParaRPr>
          </a:p>
        </p:txBody>
      </p:sp>
      <p:sp>
        <p:nvSpPr>
          <p:cNvPr id="4" name="Slide Number Placeholder 3">
            <a:extLst>
              <a:ext uri="{FF2B5EF4-FFF2-40B4-BE49-F238E27FC236}">
                <a16:creationId xmlns:a16="http://schemas.microsoft.com/office/drawing/2014/main" id="{3D8E0F9F-506D-9126-3F0C-4136A212DA81}"/>
              </a:ext>
            </a:extLst>
          </p:cNvPr>
          <p:cNvSpPr>
            <a:spLocks noGrp="1"/>
          </p:cNvSpPr>
          <p:nvPr>
            <p:ph type="sldNum" sz="quarter" idx="12"/>
          </p:nvPr>
        </p:nvSpPr>
        <p:spPr/>
        <p:txBody>
          <a:bodyPr/>
          <a:lstStyle/>
          <a:p>
            <a:fld id="{87E7843D-FF13-4365-9478-9625B70A2705}" type="slidenum">
              <a:rPr lang="en-US" smtClean="0"/>
              <a:t>12</a:t>
            </a:fld>
            <a:endParaRPr lang="en-US"/>
          </a:p>
        </p:txBody>
      </p:sp>
      <p:sp>
        <p:nvSpPr>
          <p:cNvPr id="5" name="Content Placeholder 4">
            <a:extLst>
              <a:ext uri="{FF2B5EF4-FFF2-40B4-BE49-F238E27FC236}">
                <a16:creationId xmlns:a16="http://schemas.microsoft.com/office/drawing/2014/main" id="{A57A8F91-7BB3-2EF9-7840-91CE2FC06CE1}"/>
              </a:ext>
            </a:extLst>
          </p:cNvPr>
          <p:cNvSpPr>
            <a:spLocks noGrp="1"/>
          </p:cNvSpPr>
          <p:nvPr>
            <p:ph idx="1"/>
          </p:nvPr>
        </p:nvSpPr>
        <p:spPr>
          <a:xfrm>
            <a:off x="1484310" y="2742930"/>
            <a:ext cx="10018713" cy="3124201"/>
          </a:xfrm>
        </p:spPr>
        <p:txBody>
          <a:bodyPr>
            <a:normAutofit/>
          </a:bodyPr>
          <a:lstStyle/>
          <a:p>
            <a:pPr>
              <a:buNone/>
            </a:pPr>
            <a:r>
              <a:rPr lang="en-US" b="1"/>
              <a:t>Để đảm bảo an ninh (Security):</a:t>
            </a:r>
          </a:p>
          <a:p>
            <a:pPr>
              <a:buFont typeface="Arial" panose="020B0604020202020204" pitchFamily="34" charset="0"/>
              <a:buChar char="•"/>
            </a:pPr>
            <a:r>
              <a:rPr lang="en-US" b="1"/>
              <a:t>Phân chia chức năng cần và không cần login:</a:t>
            </a:r>
            <a:endParaRPr lang="en-US"/>
          </a:p>
          <a:p>
            <a:pPr marL="742950" lvl="1" indent="-285750">
              <a:buFont typeface="Arial" panose="020B0604020202020204" pitchFamily="34" charset="0"/>
              <a:buChar char="•"/>
            </a:pPr>
            <a:r>
              <a:rPr lang="en-US"/>
              <a:t>Các chức năng nhạy cảm yêu cầu xác thực, còn những chức năng khác có thể không yêu cầu.</a:t>
            </a:r>
          </a:p>
          <a:p>
            <a:pPr>
              <a:buFont typeface="Arial" panose="020B0604020202020204" pitchFamily="34" charset="0"/>
              <a:buChar char="•"/>
            </a:pPr>
            <a:r>
              <a:rPr lang="en-US" b="1"/>
              <a:t>Cấu trúc hệ thống thành nhiều tầng (Multi-layer Architecture):</a:t>
            </a:r>
            <a:endParaRPr lang="en-US"/>
          </a:p>
          <a:p>
            <a:pPr marL="742950" lvl="1" indent="-285750">
              <a:buFont typeface="Arial" panose="020B0604020202020204" pitchFamily="34" charset="0"/>
              <a:buChar char="•"/>
            </a:pPr>
            <a:r>
              <a:rPr lang="en-US"/>
              <a:t>Sử dụng nhiều lớp (ví dụ: lớp giao diện, lớp xử lý nghiệp vụ, lớp dữ liệu) để bảo vệ dữ liệu và giảm thiểu các rủi ro bảo mật.</a:t>
            </a:r>
          </a:p>
        </p:txBody>
      </p:sp>
    </p:spTree>
    <p:extLst>
      <p:ext uri="{BB962C8B-B14F-4D97-AF65-F5344CB8AC3E}">
        <p14:creationId xmlns:p14="http://schemas.microsoft.com/office/powerpoint/2010/main" val="29293256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FDE29-38AC-BF33-3E4A-FCB8FD8E5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B6D00-4198-AD07-4BE5-2BEBF7F3B58B}"/>
              </a:ext>
            </a:extLst>
          </p:cNvPr>
          <p:cNvSpPr>
            <a:spLocks noGrp="1"/>
          </p:cNvSpPr>
          <p:nvPr>
            <p:ph type="title"/>
          </p:nvPr>
        </p:nvSpPr>
        <p:spPr/>
        <p:txBody>
          <a:bodyPr/>
          <a:lstStyle/>
          <a:p>
            <a:pPr algn="ctr"/>
            <a:r>
              <a:rPr lang="en-US"/>
              <a:t>Các nguyên lý thiết kế phần mềm</a:t>
            </a:r>
            <a:endParaRPr lang="en-US" sz="4000" b="1">
              <a:latin typeface="Arial"/>
              <a:cs typeface="+mn-ea"/>
            </a:endParaRPr>
          </a:p>
        </p:txBody>
      </p:sp>
      <p:sp>
        <p:nvSpPr>
          <p:cNvPr id="4" name="Slide Number Placeholder 3">
            <a:extLst>
              <a:ext uri="{FF2B5EF4-FFF2-40B4-BE49-F238E27FC236}">
                <a16:creationId xmlns:a16="http://schemas.microsoft.com/office/drawing/2014/main" id="{58D9C01F-E564-8AB5-7D4A-18488229EA8C}"/>
              </a:ext>
            </a:extLst>
          </p:cNvPr>
          <p:cNvSpPr>
            <a:spLocks noGrp="1"/>
          </p:cNvSpPr>
          <p:nvPr>
            <p:ph type="sldNum" sz="quarter" idx="12"/>
          </p:nvPr>
        </p:nvSpPr>
        <p:spPr/>
        <p:txBody>
          <a:bodyPr/>
          <a:lstStyle/>
          <a:p>
            <a:fld id="{87E7843D-FF13-4365-9478-9625B70A2705}" type="slidenum">
              <a:rPr lang="en-US" smtClean="0"/>
              <a:t>13</a:t>
            </a:fld>
            <a:endParaRPr lang="en-US"/>
          </a:p>
        </p:txBody>
      </p:sp>
      <p:sp>
        <p:nvSpPr>
          <p:cNvPr id="3" name="Content Placeholder 2">
            <a:extLst>
              <a:ext uri="{FF2B5EF4-FFF2-40B4-BE49-F238E27FC236}">
                <a16:creationId xmlns:a16="http://schemas.microsoft.com/office/drawing/2014/main" id="{BB7C8ECC-2CDC-0C7A-4DDD-1F8FF251B9FD}"/>
              </a:ext>
            </a:extLst>
          </p:cNvPr>
          <p:cNvSpPr>
            <a:spLocks noGrp="1"/>
          </p:cNvSpPr>
          <p:nvPr>
            <p:ph idx="1"/>
          </p:nvPr>
        </p:nvSpPr>
        <p:spPr/>
        <p:txBody>
          <a:bodyPr>
            <a:normAutofit fontScale="70000" lnSpcReduction="20000"/>
          </a:bodyPr>
          <a:lstStyle/>
          <a:p>
            <a:pPr>
              <a:buNone/>
            </a:pPr>
            <a:r>
              <a:rPr lang="vi-VN" b="1"/>
              <a:t>1. Phân tách các khía cạnh quan tâm (Separation of Concerns):</a:t>
            </a:r>
          </a:p>
          <a:p>
            <a:pPr>
              <a:buFont typeface="Arial" panose="020B0604020202020204" pitchFamily="34" charset="0"/>
              <a:buChar char="•"/>
            </a:pPr>
            <a:r>
              <a:rPr lang="vi-VN"/>
              <a:t>Chia ứng dụng thành các phần độc lập, hạn chế sự chồng chéo về chức năng giữa các phần.</a:t>
            </a:r>
          </a:p>
          <a:p>
            <a:pPr>
              <a:buFont typeface="Arial" panose="020B0604020202020204" pitchFamily="34" charset="0"/>
              <a:buChar char="•"/>
            </a:pPr>
            <a:r>
              <a:rPr lang="vi-VN"/>
              <a:t>Mục tiêu: </a:t>
            </a:r>
            <a:r>
              <a:rPr lang="vi-VN" b="1"/>
              <a:t>Giảm sự phụ thuộc</a:t>
            </a:r>
            <a:r>
              <a:rPr lang="vi-VN"/>
              <a:t> và </a:t>
            </a:r>
            <a:r>
              <a:rPr lang="vi-VN" b="1"/>
              <a:t>tăng cường sự kết dính</a:t>
            </a:r>
            <a:r>
              <a:rPr lang="vi-VN"/>
              <a:t> (cohesion) trong từng thành phần.</a:t>
            </a:r>
          </a:p>
          <a:p>
            <a:pPr>
              <a:buNone/>
            </a:pPr>
            <a:r>
              <a:rPr lang="vi-VN" b="1"/>
              <a:t>2. Trách nhiệm đơn (Single Responsibility):</a:t>
            </a:r>
          </a:p>
          <a:p>
            <a:pPr>
              <a:buFont typeface="Arial" panose="020B0604020202020204" pitchFamily="34" charset="0"/>
              <a:buChar char="•"/>
            </a:pPr>
            <a:r>
              <a:rPr lang="vi-VN"/>
              <a:t>Mỗi thành phần chỉ thực hiện một chức năng hoặc một nhóm chức năng có liên quan chặt chẽ.</a:t>
            </a:r>
          </a:p>
          <a:p>
            <a:pPr>
              <a:buNone/>
            </a:pPr>
            <a:r>
              <a:rPr lang="vi-VN" b="1"/>
              <a:t>3. Hiểu biết tối thiểu (Minimal Knowledge):</a:t>
            </a:r>
          </a:p>
          <a:p>
            <a:pPr>
              <a:buFont typeface="Arial" panose="020B0604020202020204" pitchFamily="34" charset="0"/>
              <a:buChar char="•"/>
            </a:pPr>
            <a:r>
              <a:rPr lang="vi-VN"/>
              <a:t>Các thành phần không cần biết chi tiết về các thành phần khác, chỉ cần tương tác qua giao diện công khai.</a:t>
            </a:r>
          </a:p>
        </p:txBody>
      </p:sp>
    </p:spTree>
    <p:extLst>
      <p:ext uri="{BB962C8B-B14F-4D97-AF65-F5344CB8AC3E}">
        <p14:creationId xmlns:p14="http://schemas.microsoft.com/office/powerpoint/2010/main" val="280387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9E312-3558-460B-32DE-222438B76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02154-0789-EF7E-11E2-B7B575C38756}"/>
              </a:ext>
            </a:extLst>
          </p:cNvPr>
          <p:cNvSpPr>
            <a:spLocks noGrp="1"/>
          </p:cNvSpPr>
          <p:nvPr>
            <p:ph type="title"/>
          </p:nvPr>
        </p:nvSpPr>
        <p:spPr/>
        <p:txBody>
          <a:bodyPr/>
          <a:lstStyle/>
          <a:p>
            <a:pPr algn="ctr"/>
            <a:r>
              <a:rPr lang="en-US"/>
              <a:t>Các nguyên lý thiết kế phần mềm</a:t>
            </a:r>
            <a:endParaRPr lang="en-US" sz="4000" b="1">
              <a:latin typeface="Arial"/>
              <a:cs typeface="+mn-ea"/>
            </a:endParaRPr>
          </a:p>
        </p:txBody>
      </p:sp>
      <p:sp>
        <p:nvSpPr>
          <p:cNvPr id="4" name="Slide Number Placeholder 3">
            <a:extLst>
              <a:ext uri="{FF2B5EF4-FFF2-40B4-BE49-F238E27FC236}">
                <a16:creationId xmlns:a16="http://schemas.microsoft.com/office/drawing/2014/main" id="{3A9452E4-796C-CD0F-D184-EA61337F6AFD}"/>
              </a:ext>
            </a:extLst>
          </p:cNvPr>
          <p:cNvSpPr>
            <a:spLocks noGrp="1"/>
          </p:cNvSpPr>
          <p:nvPr>
            <p:ph type="sldNum" sz="quarter" idx="12"/>
          </p:nvPr>
        </p:nvSpPr>
        <p:spPr/>
        <p:txBody>
          <a:bodyPr/>
          <a:lstStyle/>
          <a:p>
            <a:fld id="{87E7843D-FF13-4365-9478-9625B70A2705}" type="slidenum">
              <a:rPr lang="en-US" smtClean="0"/>
              <a:t>14</a:t>
            </a:fld>
            <a:endParaRPr lang="en-US"/>
          </a:p>
        </p:txBody>
      </p:sp>
      <p:sp>
        <p:nvSpPr>
          <p:cNvPr id="3" name="Content Placeholder 2">
            <a:extLst>
              <a:ext uri="{FF2B5EF4-FFF2-40B4-BE49-F238E27FC236}">
                <a16:creationId xmlns:a16="http://schemas.microsoft.com/office/drawing/2014/main" id="{7495D6E6-B8AB-3F5E-9512-A98F9CC5BA20}"/>
              </a:ext>
            </a:extLst>
          </p:cNvPr>
          <p:cNvSpPr>
            <a:spLocks noGrp="1"/>
          </p:cNvSpPr>
          <p:nvPr>
            <p:ph idx="1"/>
          </p:nvPr>
        </p:nvSpPr>
        <p:spPr/>
        <p:txBody>
          <a:bodyPr>
            <a:normAutofit/>
          </a:bodyPr>
          <a:lstStyle/>
          <a:p>
            <a:pPr>
              <a:buNone/>
            </a:pPr>
            <a:r>
              <a:rPr lang="vi-VN" b="1"/>
              <a:t>4. Không lặp lại (Don’t Repeat Yourself - DRY):</a:t>
            </a:r>
          </a:p>
          <a:p>
            <a:pPr>
              <a:buFont typeface="Arial" panose="020B0604020202020204" pitchFamily="34" charset="0"/>
              <a:buChar char="•"/>
            </a:pPr>
            <a:r>
              <a:rPr lang="vi-VN"/>
              <a:t>Mỗi chức năng chỉ nên được hiện thực hóa một lần trong hệ thống để tránh sự trùng lặp và giảm thiểu lỗi.</a:t>
            </a:r>
          </a:p>
          <a:p>
            <a:pPr>
              <a:buNone/>
            </a:pPr>
            <a:r>
              <a:rPr lang="vi-VN" b="1"/>
              <a:t>5. Hạn chế thiết kế trước (Design as You Go):</a:t>
            </a:r>
          </a:p>
          <a:p>
            <a:pPr>
              <a:buFont typeface="Arial" panose="020B0604020202020204" pitchFamily="34" charset="0"/>
              <a:buChar char="•"/>
            </a:pPr>
            <a:r>
              <a:rPr lang="vi-VN"/>
              <a:t>Chỉ thiết kế khi cần và khi có đủ thông tin, tránh việc thiết kế quá chi tiết ngay từ đầu mà không có đủ cơ sở.</a:t>
            </a:r>
          </a:p>
        </p:txBody>
      </p:sp>
    </p:spTree>
    <p:extLst>
      <p:ext uri="{BB962C8B-B14F-4D97-AF65-F5344CB8AC3E}">
        <p14:creationId xmlns:p14="http://schemas.microsoft.com/office/powerpoint/2010/main" val="32806438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F47B-5F2B-9EC3-4F0A-93E19360313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B07FE37-7A2E-3BA8-B38E-B6A80147B337}"/>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Các mối quan tâm chính khi thiết kế</a:t>
            </a:r>
            <a:endParaRPr lang="en-US" sz="4000" b="1">
              <a:latin typeface="Arial"/>
            </a:endParaRPr>
          </a:p>
        </p:txBody>
      </p:sp>
      <p:sp>
        <p:nvSpPr>
          <p:cNvPr id="8" name="Slide Number Placeholder 7">
            <a:extLst>
              <a:ext uri="{FF2B5EF4-FFF2-40B4-BE49-F238E27FC236}">
                <a16:creationId xmlns:a16="http://schemas.microsoft.com/office/drawing/2014/main" id="{2C353109-71B0-504A-566A-5279CB1CFCD7}"/>
              </a:ext>
            </a:extLst>
          </p:cNvPr>
          <p:cNvSpPr>
            <a:spLocks noGrp="1"/>
          </p:cNvSpPr>
          <p:nvPr>
            <p:ph type="sldNum" sz="quarter" idx="12"/>
          </p:nvPr>
        </p:nvSpPr>
        <p:spPr/>
        <p:txBody>
          <a:bodyPr/>
          <a:lstStyle/>
          <a:p>
            <a:fld id="{87E7843D-FF13-4365-9478-9625B70A2705}" type="slidenum">
              <a:rPr lang="en-US" smtClean="0"/>
              <a:t>15</a:t>
            </a:fld>
            <a:endParaRPr lang="en-US"/>
          </a:p>
        </p:txBody>
      </p:sp>
      <p:sp>
        <p:nvSpPr>
          <p:cNvPr id="6" name="Content Placeholder 5">
            <a:extLst>
              <a:ext uri="{FF2B5EF4-FFF2-40B4-BE49-F238E27FC236}">
                <a16:creationId xmlns:a16="http://schemas.microsoft.com/office/drawing/2014/main" id="{AB8758F6-98D6-6400-1FC7-E776F1434B84}"/>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Kiểu ứng dụng: </a:t>
            </a:r>
            <a:r>
              <a:rPr kumimoji="0" lang="en-US" altLang="en-US" sz="2400" b="0" i="0" u="none" strike="noStrike" cap="none" normalizeH="0" baseline="0">
                <a:ln>
                  <a:noFill/>
                </a:ln>
                <a:solidFill>
                  <a:schemeClr val="tx1"/>
                </a:solidFill>
                <a:effectLst/>
                <a:latin typeface="Arial" panose="020B0604020202020204" pitchFamily="34" charset="0"/>
              </a:rPr>
              <a:t>Xác định loại và mục đích của ứng dụng.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Chiến lược triển khai: </a:t>
            </a:r>
            <a:r>
              <a:rPr kumimoji="0" lang="en-US" altLang="en-US" sz="2400" b="0" i="0" u="none" strike="noStrike" cap="none" normalizeH="0" baseline="0">
                <a:ln>
                  <a:noFill/>
                </a:ln>
                <a:solidFill>
                  <a:schemeClr val="tx1"/>
                </a:solidFill>
                <a:effectLst/>
                <a:latin typeface="Arial" panose="020B0604020202020204" pitchFamily="34" charset="0"/>
              </a:rPr>
              <a:t>Cách thức triển khai và vận hành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Công nghệ phù hợp:</a:t>
            </a:r>
            <a:r>
              <a:rPr lang="en-US" altLang="en-US" sz="2400">
                <a:latin typeface="Arial" panose="020B0604020202020204" pitchFamily="34" charset="0"/>
              </a:rPr>
              <a:t> </a:t>
            </a:r>
            <a:r>
              <a:rPr kumimoji="0" lang="en-US" altLang="en-US" sz="2400" b="0" i="0" u="none" strike="noStrike" cap="none" normalizeH="0" baseline="0">
                <a:ln>
                  <a:noFill/>
                </a:ln>
                <a:solidFill>
                  <a:schemeClr val="tx1"/>
                </a:solidFill>
                <a:effectLst/>
                <a:latin typeface="Arial" panose="020B0604020202020204" pitchFamily="34" charset="0"/>
              </a:rPr>
              <a:t>Chọn công nghệ phù hợp với yêu cầu và tính chất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Các thuộc tính chất lượng:</a:t>
            </a:r>
            <a:r>
              <a:rPr lang="en-US" altLang="en-US" sz="2400">
                <a:latin typeface="Arial" panose="020B0604020202020204" pitchFamily="34" charset="0"/>
              </a:rPr>
              <a:t> </a:t>
            </a:r>
            <a:r>
              <a:rPr kumimoji="0" lang="en-US" altLang="en-US" sz="2400" b="0" i="0" u="none" strike="noStrike" cap="none" normalizeH="0" baseline="0">
                <a:ln>
                  <a:noFill/>
                </a:ln>
                <a:solidFill>
                  <a:schemeClr val="tx1"/>
                </a:solidFill>
                <a:effectLst/>
                <a:latin typeface="Arial" panose="020B0604020202020204" pitchFamily="34" charset="0"/>
              </a:rPr>
              <a:t>Các yếu tố như hiệu suất, bảo mật, khả năng mở rộng, v.v.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Các yếu tố “cắt ngang”:</a:t>
            </a:r>
            <a:r>
              <a:rPr kumimoji="0" lang="en-US" altLang="en-US" sz="2400" b="0" i="0" u="none" strike="noStrike" cap="none" normalizeH="0" baseline="0">
                <a:ln>
                  <a:noFill/>
                </a:ln>
                <a:solidFill>
                  <a:schemeClr val="tx1"/>
                </a:solidFill>
                <a:effectLst/>
                <a:latin typeface="Arial" panose="020B0604020202020204" pitchFamily="34" charset="0"/>
              </a:rPr>
              <a:t>Các yếu tố như logging, bảo mật, quản lý giao dịch, v.v., ảnh hưởng đến nhiều phần của hệ thống.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endParaRPr>
          </a:p>
          <a:p>
            <a:endParaRPr lang="en-US"/>
          </a:p>
        </p:txBody>
      </p:sp>
    </p:spTree>
    <p:extLst>
      <p:ext uri="{BB962C8B-B14F-4D97-AF65-F5344CB8AC3E}">
        <p14:creationId xmlns:p14="http://schemas.microsoft.com/office/powerpoint/2010/main" val="3260543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62E1C-B68B-6AB1-99C6-0BF3A6FD67A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06D663D-AFAF-EF9C-67A9-304E29E74F96}"/>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8400"/>
              </a:lnSpc>
            </a:pPr>
            <a:r>
              <a:rPr lang="en-US"/>
              <a:t>Thiết kế kiến trúc</a:t>
            </a:r>
            <a:endParaRPr lang="en-US" sz="4000" b="1">
              <a:solidFill>
                <a:srgbClr val="343434"/>
              </a:solidFill>
              <a:latin typeface="Arial"/>
              <a:ea typeface="Cooper Hewitt Bold"/>
              <a:cs typeface="Cooper Hewitt Bold"/>
              <a:sym typeface="Cooper Hewitt Bold"/>
            </a:endParaRPr>
          </a:p>
        </p:txBody>
      </p:sp>
      <p:sp>
        <p:nvSpPr>
          <p:cNvPr id="8" name="Slide Number Placeholder 7">
            <a:extLst>
              <a:ext uri="{FF2B5EF4-FFF2-40B4-BE49-F238E27FC236}">
                <a16:creationId xmlns:a16="http://schemas.microsoft.com/office/drawing/2014/main" id="{46DF10FA-5D75-438B-1B0A-64C975B66EDD}"/>
              </a:ext>
            </a:extLst>
          </p:cNvPr>
          <p:cNvSpPr>
            <a:spLocks noGrp="1"/>
          </p:cNvSpPr>
          <p:nvPr>
            <p:ph type="sldNum" sz="quarter" idx="12"/>
          </p:nvPr>
        </p:nvSpPr>
        <p:spPr/>
        <p:txBody>
          <a:bodyPr/>
          <a:lstStyle/>
          <a:p>
            <a:fld id="{87E7843D-FF13-4365-9478-9625B70A2705}" type="slidenum">
              <a:rPr lang="en-US" smtClean="0"/>
              <a:t>16</a:t>
            </a:fld>
            <a:endParaRPr lang="en-US"/>
          </a:p>
        </p:txBody>
      </p:sp>
      <p:sp>
        <p:nvSpPr>
          <p:cNvPr id="9" name="Content Placeholder 8">
            <a:extLst>
              <a:ext uri="{FF2B5EF4-FFF2-40B4-BE49-F238E27FC236}">
                <a16:creationId xmlns:a16="http://schemas.microsoft.com/office/drawing/2014/main" id="{B9DD2C5B-8A49-6174-A03D-3209112A897B}"/>
              </a:ext>
            </a:extLst>
          </p:cNvPr>
          <p:cNvSpPr>
            <a:spLocks noGrp="1"/>
          </p:cNvSpPr>
          <p:nvPr>
            <p:ph idx="1"/>
          </p:nvPr>
        </p:nvSpPr>
        <p:spPr/>
        <p:txBody>
          <a:bodyPr>
            <a:normAutofit/>
          </a:bodyPr>
          <a:lstStyle/>
          <a:p>
            <a:pPr>
              <a:buFont typeface="Arial" panose="020B0604020202020204" pitchFamily="34" charset="0"/>
              <a:buChar char="•"/>
            </a:pPr>
            <a:r>
              <a:rPr lang="vi-VN" b="1"/>
              <a:t>Đầu vào:</a:t>
            </a:r>
            <a:endParaRPr lang="vi-VN"/>
          </a:p>
          <a:p>
            <a:pPr marL="742950" lvl="1" indent="-285750">
              <a:buFont typeface="Arial" panose="020B0604020202020204" pitchFamily="34" charset="0"/>
              <a:buChar char="•"/>
            </a:pPr>
            <a:r>
              <a:rPr lang="vi-VN"/>
              <a:t>Các yêu cầu chức năng và phi chức năng, các ràng buộc.</a:t>
            </a:r>
          </a:p>
          <a:p>
            <a:pPr>
              <a:buFont typeface="Arial" panose="020B0604020202020204" pitchFamily="34" charset="0"/>
              <a:buChar char="•"/>
            </a:pPr>
            <a:r>
              <a:rPr lang="vi-VN" b="1"/>
              <a:t>Đầu ra:</a:t>
            </a:r>
            <a:endParaRPr lang="vi-VN"/>
          </a:p>
          <a:p>
            <a:pPr marL="742950" lvl="1" indent="-285750">
              <a:buFont typeface="Arial" panose="020B0604020202020204" pitchFamily="34" charset="0"/>
              <a:buChar char="•"/>
            </a:pPr>
            <a:r>
              <a:rPr lang="vi-VN"/>
              <a:t>Bản thiết kế kiến trúc.</a:t>
            </a:r>
          </a:p>
          <a:p>
            <a:pPr>
              <a:buFont typeface="Arial" panose="020B0604020202020204" pitchFamily="34" charset="0"/>
              <a:buChar char="•"/>
            </a:pPr>
            <a:r>
              <a:rPr lang="vi-VN" b="1"/>
              <a:t>Là một quá trình lặp đi lặp lại</a:t>
            </a:r>
            <a:r>
              <a:rPr lang="vi-VN"/>
              <a:t> với các bước sau:</a:t>
            </a:r>
          </a:p>
        </p:txBody>
      </p:sp>
    </p:spTree>
    <p:extLst>
      <p:ext uri="{BB962C8B-B14F-4D97-AF65-F5344CB8AC3E}">
        <p14:creationId xmlns:p14="http://schemas.microsoft.com/office/powerpoint/2010/main" val="1662499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94E4C-B895-0063-ED2D-FD99E9FDCEA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F4F6708-6A19-D734-247B-5910733C9ECA}"/>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7280"/>
              </a:lnSpc>
            </a:pPr>
            <a:r>
              <a:rPr lang="vi-VN"/>
              <a:t>Các bước chính trong thiết kế kiến trúc</a:t>
            </a:r>
            <a:endParaRPr lang="en-US" sz="4000" b="1">
              <a:solidFill>
                <a:srgbClr val="343434"/>
              </a:solidFill>
              <a:latin typeface="Arial"/>
              <a:ea typeface="Cooper Hewitt Bold"/>
              <a:cs typeface="Cooper Hewitt Bold"/>
              <a:sym typeface="Cooper Hewitt Bold"/>
            </a:endParaRPr>
          </a:p>
        </p:txBody>
      </p:sp>
      <p:sp>
        <p:nvSpPr>
          <p:cNvPr id="8" name="Slide Number Placeholder 7">
            <a:extLst>
              <a:ext uri="{FF2B5EF4-FFF2-40B4-BE49-F238E27FC236}">
                <a16:creationId xmlns:a16="http://schemas.microsoft.com/office/drawing/2014/main" id="{F0703BEB-DCD3-668F-F9A2-5A99F1DECBAD}"/>
              </a:ext>
            </a:extLst>
          </p:cNvPr>
          <p:cNvSpPr>
            <a:spLocks noGrp="1"/>
          </p:cNvSpPr>
          <p:nvPr>
            <p:ph type="sldNum" sz="quarter" idx="12"/>
          </p:nvPr>
        </p:nvSpPr>
        <p:spPr/>
        <p:txBody>
          <a:bodyPr/>
          <a:lstStyle/>
          <a:p>
            <a:fld id="{87E7843D-FF13-4365-9478-9625B70A2705}" type="slidenum">
              <a:rPr lang="en-US" smtClean="0"/>
              <a:t>17</a:t>
            </a:fld>
            <a:endParaRPr lang="en-US"/>
          </a:p>
        </p:txBody>
      </p:sp>
      <p:sp>
        <p:nvSpPr>
          <p:cNvPr id="5" name="Rectangle 2">
            <a:extLst>
              <a:ext uri="{FF2B5EF4-FFF2-40B4-BE49-F238E27FC236}">
                <a16:creationId xmlns:a16="http://schemas.microsoft.com/office/drawing/2014/main" id="{5F0B7176-CCBF-6A0F-8248-F32FAA5FD00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mục tiêu</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các hoạt cảnh sử dụng chính (use cases)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tổng quan về ứng dụng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các vấn đề chính</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định các giải pháp chính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0932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A0B55-071B-AA3F-58D3-0353ED0DBAC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4F51228-9316-508D-C730-5A8A82AF53CF}"/>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8400"/>
              </a:lnSpc>
            </a:pPr>
            <a:r>
              <a:rPr lang="en-US" sz="4000" b="1">
                <a:solidFill>
                  <a:srgbClr val="343434"/>
                </a:solidFill>
                <a:latin typeface="Arial"/>
                <a:ea typeface="Cooper Hewitt Bold"/>
                <a:cs typeface="Cooper Hewitt Bold"/>
                <a:sym typeface="Cooper Hewitt Bold"/>
              </a:rPr>
              <a:t>TÁC NHÂN (ACTORS)</a:t>
            </a:r>
          </a:p>
        </p:txBody>
      </p:sp>
      <p:sp>
        <p:nvSpPr>
          <p:cNvPr id="8" name="Slide Number Placeholder 7">
            <a:extLst>
              <a:ext uri="{FF2B5EF4-FFF2-40B4-BE49-F238E27FC236}">
                <a16:creationId xmlns:a16="http://schemas.microsoft.com/office/drawing/2014/main" id="{F8917D77-B305-8EAD-12C4-7469C1609818}"/>
              </a:ext>
            </a:extLst>
          </p:cNvPr>
          <p:cNvSpPr>
            <a:spLocks noGrp="1"/>
          </p:cNvSpPr>
          <p:nvPr>
            <p:ph type="sldNum" sz="quarter" idx="12"/>
          </p:nvPr>
        </p:nvSpPr>
        <p:spPr/>
        <p:txBody>
          <a:bodyPr/>
          <a:lstStyle/>
          <a:p>
            <a:fld id="{87E7843D-FF13-4365-9478-9625B70A2705}" type="slidenum">
              <a:rPr lang="en-US" smtClean="0"/>
              <a:t>18</a:t>
            </a:fld>
            <a:endParaRPr lang="en-US"/>
          </a:p>
        </p:txBody>
      </p:sp>
      <p:sp>
        <p:nvSpPr>
          <p:cNvPr id="3" name="Content Placeholder 2">
            <a:extLst>
              <a:ext uri="{FF2B5EF4-FFF2-40B4-BE49-F238E27FC236}">
                <a16:creationId xmlns:a16="http://schemas.microsoft.com/office/drawing/2014/main" id="{04837313-5F3B-6512-98B4-65F0FE69086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07AD022-95D9-471E-47DB-F56D86927BA1}"/>
              </a:ext>
            </a:extLst>
          </p:cNvPr>
          <p:cNvPicPr>
            <a:picLocks noChangeAspect="1"/>
          </p:cNvPicPr>
          <p:nvPr/>
        </p:nvPicPr>
        <p:blipFill>
          <a:blip r:embed="rId2"/>
          <a:stretch>
            <a:fillRect/>
          </a:stretch>
        </p:blipFill>
        <p:spPr>
          <a:xfrm>
            <a:off x="4243129" y="1376076"/>
            <a:ext cx="3705742" cy="4105848"/>
          </a:xfrm>
          <a:prstGeom prst="rect">
            <a:avLst/>
          </a:prstGeom>
        </p:spPr>
      </p:pic>
    </p:spTree>
    <p:extLst>
      <p:ext uri="{BB962C8B-B14F-4D97-AF65-F5344CB8AC3E}">
        <p14:creationId xmlns:p14="http://schemas.microsoft.com/office/powerpoint/2010/main" val="922318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315B4-9F76-4C94-020C-95397D54E7B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3E06020-88F1-6538-56B1-FE3B6F065A58}"/>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8400"/>
              </a:lnSpc>
            </a:pPr>
            <a:r>
              <a:rPr lang="en-US"/>
              <a:t>Xác định mục tiêu trong thiết kế kiến trúc</a:t>
            </a:r>
            <a:endParaRPr lang="en-US" sz="4000" b="1">
              <a:solidFill>
                <a:srgbClr val="343434"/>
              </a:solidFill>
              <a:latin typeface="Arial"/>
              <a:ea typeface="Cooper Hewitt Bold"/>
              <a:cs typeface="Cooper Hewitt Bold"/>
              <a:sym typeface="Cooper Hewitt Bold"/>
            </a:endParaRPr>
          </a:p>
        </p:txBody>
      </p:sp>
      <p:sp>
        <p:nvSpPr>
          <p:cNvPr id="8" name="Slide Number Placeholder 7">
            <a:extLst>
              <a:ext uri="{FF2B5EF4-FFF2-40B4-BE49-F238E27FC236}">
                <a16:creationId xmlns:a16="http://schemas.microsoft.com/office/drawing/2014/main" id="{7F43B5F7-9D1E-B1F9-5E6E-8A97B35AB6CF}"/>
              </a:ext>
            </a:extLst>
          </p:cNvPr>
          <p:cNvSpPr>
            <a:spLocks noGrp="1"/>
          </p:cNvSpPr>
          <p:nvPr>
            <p:ph type="sldNum" sz="quarter" idx="12"/>
          </p:nvPr>
        </p:nvSpPr>
        <p:spPr/>
        <p:txBody>
          <a:bodyPr/>
          <a:lstStyle/>
          <a:p>
            <a:fld id="{87E7843D-FF13-4365-9478-9625B70A2705}" type="slidenum">
              <a:rPr lang="en-US" smtClean="0"/>
              <a:t>19</a:t>
            </a:fld>
            <a:endParaRPr lang="en-US"/>
          </a:p>
        </p:txBody>
      </p:sp>
      <p:sp>
        <p:nvSpPr>
          <p:cNvPr id="4" name="Content Placeholder 3">
            <a:extLst>
              <a:ext uri="{FF2B5EF4-FFF2-40B4-BE49-F238E27FC236}">
                <a16:creationId xmlns:a16="http://schemas.microsoft.com/office/drawing/2014/main" id="{C2B42B5D-E606-D82A-799A-41F6C0385E26}"/>
              </a:ext>
            </a:extLst>
          </p:cNvPr>
          <p:cNvSpPr>
            <a:spLocks noGrp="1"/>
          </p:cNvSpPr>
          <p:nvPr>
            <p:ph idx="1"/>
          </p:nvPr>
        </p:nvSpPr>
        <p:spPr/>
        <p:txBody>
          <a:bodyPr>
            <a:normAutofit/>
          </a:bodyPr>
          <a:lstStyle/>
          <a:p>
            <a:pPr>
              <a:buFont typeface="Arial" panose="020B0604020202020204" pitchFamily="34" charset="0"/>
              <a:buChar char="•"/>
            </a:pPr>
            <a:r>
              <a:rPr lang="vi-VN" b="1"/>
              <a:t>Mục đích thiết kế kiến trúc:</a:t>
            </a:r>
            <a:r>
              <a:rPr lang="en-US" b="1"/>
              <a:t> </a:t>
            </a:r>
            <a:r>
              <a:rPr lang="vi-VN"/>
              <a:t>Thiết kế kiến trúc để đạt được các yêu cầu về </a:t>
            </a:r>
            <a:r>
              <a:rPr lang="vi-VN" b="1"/>
              <a:t>chức năng</a:t>
            </a:r>
            <a:r>
              <a:rPr lang="vi-VN"/>
              <a:t> và </a:t>
            </a:r>
            <a:r>
              <a:rPr lang="vi-VN" b="1"/>
              <a:t>phi chức năng</a:t>
            </a:r>
            <a:r>
              <a:rPr lang="vi-VN"/>
              <a:t> của hệ thống, đảm bảo hiệu suất, bảo mật, khả năng mở rộng, và bảo trì.</a:t>
            </a:r>
          </a:p>
          <a:p>
            <a:pPr>
              <a:buFont typeface="Arial" panose="020B0604020202020204" pitchFamily="34" charset="0"/>
              <a:buChar char="•"/>
            </a:pPr>
            <a:r>
              <a:rPr lang="vi-VN" b="1"/>
              <a:t>Đối tượng sử dụng:</a:t>
            </a:r>
            <a:r>
              <a:rPr lang="en-US" b="1"/>
              <a:t> </a:t>
            </a:r>
            <a:r>
              <a:rPr lang="vi-VN"/>
              <a:t>Kiến trúc dành cho các bên liên quan như </a:t>
            </a:r>
            <a:r>
              <a:rPr lang="vi-VN" b="1"/>
              <a:t>nhà phát triển</a:t>
            </a:r>
            <a:r>
              <a:rPr lang="vi-VN"/>
              <a:t>, </a:t>
            </a:r>
            <a:r>
              <a:rPr lang="vi-VN" b="1"/>
              <a:t>quản lý</a:t>
            </a:r>
            <a:r>
              <a:rPr lang="vi-VN"/>
              <a:t>, </a:t>
            </a:r>
            <a:r>
              <a:rPr lang="vi-VN" b="1"/>
              <a:t>khách hàng</a:t>
            </a:r>
            <a:r>
              <a:rPr lang="vi-VN"/>
              <a:t>, và </a:t>
            </a:r>
            <a:r>
              <a:rPr lang="vi-VN" b="1"/>
              <a:t>người dùng cuối</a:t>
            </a:r>
            <a:r>
              <a:rPr lang="vi-VN"/>
              <a:t>.</a:t>
            </a:r>
          </a:p>
          <a:p>
            <a:pPr>
              <a:buFont typeface="Arial" panose="020B0604020202020204" pitchFamily="34" charset="0"/>
              <a:buChar char="•"/>
            </a:pPr>
            <a:r>
              <a:rPr lang="vi-VN" b="1"/>
              <a:t>Các ràng buộc:</a:t>
            </a:r>
            <a:r>
              <a:rPr lang="en-US" b="1"/>
              <a:t> </a:t>
            </a:r>
            <a:r>
              <a:rPr lang="vi-VN" b="1"/>
              <a:t>Phạm vi và thời gian thực hiện:</a:t>
            </a:r>
            <a:r>
              <a:rPr lang="vi-VN"/>
              <a:t> Xác định giới hạn về thời gian và tài nguyên để triển khai hệ thống.</a:t>
            </a:r>
          </a:p>
          <a:p>
            <a:endParaRPr lang="en-US"/>
          </a:p>
        </p:txBody>
      </p:sp>
    </p:spTree>
    <p:extLst>
      <p:ext uri="{BB962C8B-B14F-4D97-AF65-F5344CB8AC3E}">
        <p14:creationId xmlns:p14="http://schemas.microsoft.com/office/powerpoint/2010/main" val="3519696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4E13-BF25-64AC-3C0A-F261C48743A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D5BA288-DE83-195C-4BB7-CB42C152BE20}"/>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7280"/>
              </a:lnSpc>
            </a:pPr>
            <a:r>
              <a:rPr lang="en-US"/>
              <a:t>Hoạt cảnh sử dụng chính (Use Cases)</a:t>
            </a:r>
            <a:endParaRPr lang="en-US" sz="4000" b="1">
              <a:solidFill>
                <a:srgbClr val="343434"/>
              </a:solidFill>
              <a:latin typeface="Arial"/>
              <a:ea typeface="Cooper Hewitt Bold"/>
              <a:cs typeface="Cooper Hewitt Bold"/>
              <a:sym typeface="Cooper Hewitt Bold"/>
            </a:endParaRPr>
          </a:p>
        </p:txBody>
      </p:sp>
      <p:sp>
        <p:nvSpPr>
          <p:cNvPr id="9" name="Slide Number Placeholder 8">
            <a:extLst>
              <a:ext uri="{FF2B5EF4-FFF2-40B4-BE49-F238E27FC236}">
                <a16:creationId xmlns:a16="http://schemas.microsoft.com/office/drawing/2014/main" id="{2BD50910-3C0B-3864-53BD-B0419CD914E3}"/>
              </a:ext>
            </a:extLst>
          </p:cNvPr>
          <p:cNvSpPr>
            <a:spLocks noGrp="1"/>
          </p:cNvSpPr>
          <p:nvPr>
            <p:ph type="sldNum" sz="quarter" idx="12"/>
          </p:nvPr>
        </p:nvSpPr>
        <p:spPr/>
        <p:txBody>
          <a:bodyPr/>
          <a:lstStyle/>
          <a:p>
            <a:fld id="{87E7843D-FF13-4365-9478-9625B70A2705}" type="slidenum">
              <a:rPr lang="en-US" smtClean="0"/>
              <a:t>20</a:t>
            </a:fld>
            <a:endParaRPr lang="en-US"/>
          </a:p>
        </p:txBody>
      </p:sp>
      <p:sp>
        <p:nvSpPr>
          <p:cNvPr id="5" name="Rectangle 2">
            <a:extLst>
              <a:ext uri="{FF2B5EF4-FFF2-40B4-BE49-F238E27FC236}">
                <a16:creationId xmlns:a16="http://schemas.microsoft.com/office/drawing/2014/main" id="{E3294E95-9B21-8762-D90D-6E856C96A39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Hoạt cảnh sử dụng (Use Case):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Một hoạt cảnh là sự tổng quát của nhiều </a:t>
            </a:r>
            <a:r>
              <a:rPr kumimoji="0" lang="en-US" altLang="en-US" sz="1800" b="1" i="0" u="none" strike="noStrike" cap="none" normalizeH="0" baseline="0">
                <a:ln>
                  <a:noFill/>
                </a:ln>
                <a:solidFill>
                  <a:schemeClr val="tx1"/>
                </a:solidFill>
                <a:effectLst/>
                <a:latin typeface="Arial" panose="020B0604020202020204" pitchFamily="34" charset="0"/>
              </a:rPr>
              <a:t>ca sử dụng</a:t>
            </a:r>
            <a:r>
              <a:rPr kumimoji="0" lang="en-US" altLang="en-US" sz="1800" b="0" i="0" u="none" strike="noStrike" cap="none" normalizeH="0" baseline="0">
                <a:ln>
                  <a:noFill/>
                </a:ln>
                <a:solidFill>
                  <a:schemeClr val="tx1"/>
                </a:solidFill>
                <a:effectLst/>
                <a:latin typeface="Arial" panose="020B0604020202020204" pitchFamily="34" charset="0"/>
              </a:rPr>
              <a:t> (use case) tương tự trong ứng dụng.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Các hoạt cảnh chính:</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Những hoạt cảnh có ảnh hưởng lớn, thường xuyên được sử dụng trong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Các hoạt cảnh này thể hiện sự </a:t>
            </a:r>
            <a:r>
              <a:rPr kumimoji="0" lang="en-US" altLang="en-US" sz="1800" b="1" i="0" u="none" strike="noStrike" cap="none" normalizeH="0" baseline="0">
                <a:ln>
                  <a:noFill/>
                </a:ln>
                <a:solidFill>
                  <a:schemeClr val="tx1"/>
                </a:solidFill>
                <a:effectLst/>
                <a:latin typeface="Arial" panose="020B0604020202020204" pitchFamily="34" charset="0"/>
              </a:rPr>
              <a:t>đánh đổi</a:t>
            </a:r>
            <a:r>
              <a:rPr kumimoji="0" lang="en-US" altLang="en-US" sz="1800" b="0" i="0" u="none" strike="noStrike" cap="none" normalizeH="0" baseline="0">
                <a:ln>
                  <a:noFill/>
                </a:ln>
                <a:solidFill>
                  <a:schemeClr val="tx1"/>
                </a:solidFill>
                <a:effectLst/>
                <a:latin typeface="Arial" panose="020B0604020202020204" pitchFamily="34" charset="0"/>
              </a:rPr>
              <a:t> giữa các </a:t>
            </a:r>
            <a:r>
              <a:rPr kumimoji="0" lang="en-US" altLang="en-US" sz="1800" b="1" i="0" u="none" strike="noStrike" cap="none" normalizeH="0" baseline="0">
                <a:ln>
                  <a:noFill/>
                </a:ln>
                <a:solidFill>
                  <a:schemeClr val="tx1"/>
                </a:solidFill>
                <a:effectLst/>
                <a:latin typeface="Arial" panose="020B0604020202020204" pitchFamily="34" charset="0"/>
              </a:rPr>
              <a:t>thuộc tính chất lượng</a:t>
            </a:r>
            <a:r>
              <a:rPr kumimoji="0" lang="en-US" altLang="en-US" sz="1800" b="0" i="0" u="none" strike="noStrike" cap="none" normalizeH="0" baseline="0">
                <a:ln>
                  <a:noFill/>
                </a:ln>
                <a:solidFill>
                  <a:schemeClr val="tx1"/>
                </a:solidFill>
                <a:effectLst/>
                <a:latin typeface="Arial" panose="020B0604020202020204" pitchFamily="34" charset="0"/>
              </a:rPr>
              <a:t> (performance, security,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4645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D124-58E5-C25B-563B-B2C8ED93BD4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3EA2A93-0051-163C-C0CB-C29CC7990FBE}"/>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a:t>Tổng quan về ứng dụng</a:t>
            </a:r>
            <a:endParaRPr lang="en-US" sz="4000" b="1">
              <a:solidFill>
                <a:srgbClr val="343434"/>
              </a:solidFill>
              <a:latin typeface="Arial"/>
              <a:ea typeface="Cooper Hewitt Bold"/>
              <a:cs typeface="Cooper Hewitt Bold"/>
              <a:sym typeface="Cooper Hewitt Bold"/>
            </a:endParaRPr>
          </a:p>
        </p:txBody>
      </p:sp>
      <p:sp>
        <p:nvSpPr>
          <p:cNvPr id="9" name="Slide Number Placeholder 8">
            <a:extLst>
              <a:ext uri="{FF2B5EF4-FFF2-40B4-BE49-F238E27FC236}">
                <a16:creationId xmlns:a16="http://schemas.microsoft.com/office/drawing/2014/main" id="{836C03D4-FDCF-798A-218F-C779E721CF67}"/>
              </a:ext>
            </a:extLst>
          </p:cNvPr>
          <p:cNvSpPr>
            <a:spLocks noGrp="1"/>
          </p:cNvSpPr>
          <p:nvPr>
            <p:ph type="sldNum" sz="quarter" idx="12"/>
          </p:nvPr>
        </p:nvSpPr>
        <p:spPr/>
        <p:txBody>
          <a:bodyPr/>
          <a:lstStyle/>
          <a:p>
            <a:fld id="{87E7843D-FF13-4365-9478-9625B70A2705}" type="slidenum">
              <a:rPr lang="en-US" smtClean="0"/>
              <a:t>21</a:t>
            </a:fld>
            <a:endParaRPr lang="en-US"/>
          </a:p>
        </p:txBody>
      </p:sp>
      <p:sp>
        <p:nvSpPr>
          <p:cNvPr id="4" name="Content Placeholder 3">
            <a:extLst>
              <a:ext uri="{FF2B5EF4-FFF2-40B4-BE49-F238E27FC236}">
                <a16:creationId xmlns:a16="http://schemas.microsoft.com/office/drawing/2014/main" id="{8FC9E1B5-D88E-3C96-77A5-2EBCE74FFDBB}"/>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vi-VN" b="1"/>
              <a:t>Xác định kiểu ứng dụng:</a:t>
            </a:r>
            <a:endParaRPr lang="vi-VN"/>
          </a:p>
          <a:p>
            <a:pPr marL="742950" lvl="1" indent="-285750">
              <a:buFont typeface="Arial" panose="020B0604020202020204" pitchFamily="34" charset="0"/>
              <a:buChar char="•"/>
            </a:pPr>
            <a:r>
              <a:rPr lang="vi-VN"/>
              <a:t>Phân loại ứng dụng theo kiểu như web, mobile, hoặc desktop.</a:t>
            </a:r>
          </a:p>
          <a:p>
            <a:pPr>
              <a:buFont typeface="Arial" panose="020B0604020202020204" pitchFamily="34" charset="0"/>
              <a:buChar char="•"/>
            </a:pPr>
            <a:r>
              <a:rPr lang="vi-VN" b="1"/>
              <a:t>Xác định các ràng buộc triển khai:</a:t>
            </a:r>
            <a:endParaRPr lang="vi-VN"/>
          </a:p>
          <a:p>
            <a:pPr marL="742950" lvl="1" indent="-285750">
              <a:buFont typeface="Arial" panose="020B0604020202020204" pitchFamily="34" charset="0"/>
              <a:buChar char="•"/>
            </a:pPr>
            <a:r>
              <a:rPr lang="vi-VN"/>
              <a:t>Các yếu tố như môi trường triển khai, yêu cầu về phần cứng, phần mềm, mạng.</a:t>
            </a:r>
          </a:p>
          <a:p>
            <a:pPr>
              <a:buFont typeface="Arial" panose="020B0604020202020204" pitchFamily="34" charset="0"/>
              <a:buChar char="•"/>
            </a:pPr>
            <a:r>
              <a:rPr lang="vi-VN" b="1"/>
              <a:t>Các kiểu kiến trúc có thể sử dụng:</a:t>
            </a:r>
            <a:endParaRPr lang="vi-VN"/>
          </a:p>
          <a:p>
            <a:pPr marL="742950" lvl="1" indent="-285750">
              <a:buFont typeface="Arial" panose="020B0604020202020204" pitchFamily="34" charset="0"/>
              <a:buChar char="•"/>
            </a:pPr>
            <a:r>
              <a:rPr lang="vi-VN"/>
              <a:t>Ví dụ: Kiến trúc phân lớp, microservices, client-server, v.v.</a:t>
            </a:r>
          </a:p>
          <a:p>
            <a:pPr>
              <a:buFont typeface="Arial" panose="020B0604020202020204" pitchFamily="34" charset="0"/>
              <a:buChar char="•"/>
            </a:pPr>
            <a:r>
              <a:rPr lang="vi-VN" b="1"/>
              <a:t>Các công nghệ liên quan:</a:t>
            </a:r>
            <a:endParaRPr lang="vi-VN"/>
          </a:p>
          <a:p>
            <a:pPr marL="742950" lvl="1" indent="-285750">
              <a:buFont typeface="Arial" panose="020B0604020202020204" pitchFamily="34" charset="0"/>
              <a:buChar char="•"/>
            </a:pPr>
            <a:r>
              <a:rPr lang="vi-VN"/>
              <a:t>Chọn các công nghệ và framework phù hợp với kiến trúc (ví dụ: Spring, Docker, Node.js).</a:t>
            </a:r>
          </a:p>
        </p:txBody>
      </p:sp>
    </p:spTree>
    <p:extLst>
      <p:ext uri="{BB962C8B-B14F-4D97-AF65-F5344CB8AC3E}">
        <p14:creationId xmlns:p14="http://schemas.microsoft.com/office/powerpoint/2010/main" val="4058024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5513D-65D5-3FF1-8B6D-C3BD040F801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C752A56-2ED5-5C5D-9869-8D2B060D9C58}"/>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sz="4000" b="1">
                <a:solidFill>
                  <a:srgbClr val="343434"/>
                </a:solidFill>
                <a:latin typeface="Arial"/>
                <a:ea typeface="Cooper Hewitt Bold"/>
                <a:cs typeface="Cooper Hewitt Bold"/>
                <a:sym typeface="Cooper Hewitt Bold"/>
              </a:rPr>
              <a:t>new</a:t>
            </a:r>
          </a:p>
        </p:txBody>
      </p:sp>
      <p:sp>
        <p:nvSpPr>
          <p:cNvPr id="9" name="Slide Number Placeholder 8">
            <a:extLst>
              <a:ext uri="{FF2B5EF4-FFF2-40B4-BE49-F238E27FC236}">
                <a16:creationId xmlns:a16="http://schemas.microsoft.com/office/drawing/2014/main" id="{46F3D0B7-FB41-3B8C-18EF-D4CEC959C9CC}"/>
              </a:ext>
            </a:extLst>
          </p:cNvPr>
          <p:cNvSpPr>
            <a:spLocks noGrp="1"/>
          </p:cNvSpPr>
          <p:nvPr>
            <p:ph type="sldNum" sz="quarter" idx="12"/>
          </p:nvPr>
        </p:nvSpPr>
        <p:spPr/>
        <p:txBody>
          <a:bodyPr/>
          <a:lstStyle/>
          <a:p>
            <a:fld id="{87E7843D-FF13-4365-9478-9625B70A2705}" type="slidenum">
              <a:rPr lang="en-US" smtClean="0"/>
              <a:t>22</a:t>
            </a:fld>
            <a:endParaRPr lang="en-US"/>
          </a:p>
        </p:txBody>
      </p:sp>
      <p:sp>
        <p:nvSpPr>
          <p:cNvPr id="3" name="Content Placeholder 2">
            <a:extLst>
              <a:ext uri="{FF2B5EF4-FFF2-40B4-BE49-F238E27FC236}">
                <a16:creationId xmlns:a16="http://schemas.microsoft.com/office/drawing/2014/main" id="{D9C24B7E-7353-C4DA-F2D8-FA394F20FA6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85493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C5048-3377-8337-5E7E-957078E5C41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53C5F4E-4CC0-3A03-9CAF-6C14FBCC15B2}"/>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fontScale="925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a:t>Xác định các vấn đề chính trong thiết kế kiến trúc</a:t>
            </a:r>
            <a:endParaRPr lang="en-US" sz="4000" b="1">
              <a:solidFill>
                <a:srgbClr val="343434"/>
              </a:solidFill>
              <a:latin typeface="Arial"/>
              <a:ea typeface="Cooper Hewitt Bold"/>
              <a:cs typeface="Cooper Hewitt Bold"/>
              <a:sym typeface="Cooper Hewitt Bold"/>
            </a:endParaRPr>
          </a:p>
        </p:txBody>
      </p:sp>
      <p:sp>
        <p:nvSpPr>
          <p:cNvPr id="9" name="Slide Number Placeholder 8">
            <a:extLst>
              <a:ext uri="{FF2B5EF4-FFF2-40B4-BE49-F238E27FC236}">
                <a16:creationId xmlns:a16="http://schemas.microsoft.com/office/drawing/2014/main" id="{B81BCDE6-4C68-C02B-4EFD-F90C57ADAEF5}"/>
              </a:ext>
            </a:extLst>
          </p:cNvPr>
          <p:cNvSpPr>
            <a:spLocks noGrp="1"/>
          </p:cNvSpPr>
          <p:nvPr>
            <p:ph type="sldNum" sz="quarter" idx="12"/>
          </p:nvPr>
        </p:nvSpPr>
        <p:spPr/>
        <p:txBody>
          <a:bodyPr/>
          <a:lstStyle/>
          <a:p>
            <a:fld id="{87E7843D-FF13-4365-9478-9625B70A2705}" type="slidenum">
              <a:rPr lang="en-US" smtClean="0"/>
              <a:t>23</a:t>
            </a:fld>
            <a:endParaRPr lang="en-US"/>
          </a:p>
        </p:txBody>
      </p:sp>
      <p:sp>
        <p:nvSpPr>
          <p:cNvPr id="5" name="Rectangle 1">
            <a:extLst>
              <a:ext uri="{FF2B5EF4-FFF2-40B4-BE49-F238E27FC236}">
                <a16:creationId xmlns:a16="http://schemas.microsoft.com/office/drawing/2014/main" id="{4D4E3041-6D69-4D87-8F85-D3E33100E11E}"/>
              </a:ext>
            </a:extLst>
          </p:cNvPr>
          <p:cNvSpPr>
            <a:spLocks noGrp="1" noChangeArrowheads="1"/>
          </p:cNvSpPr>
          <p:nvPr>
            <p:ph idx="1"/>
          </p:nvPr>
        </p:nvSpPr>
        <p:spPr bwMode="auto">
          <a:xfrm>
            <a:off x="1484311" y="3074937"/>
            <a:ext cx="982812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Thuộc tính chất lượng: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Performance (Hiệu suất):</a:t>
            </a:r>
            <a:r>
              <a:rPr kumimoji="0" lang="en-US" altLang="en-US" sz="1800" b="0" i="0" u="none" strike="noStrike" cap="none" normalizeH="0" baseline="0">
                <a:ln>
                  <a:noFill/>
                </a:ln>
                <a:solidFill>
                  <a:schemeClr val="tx1"/>
                </a:solidFill>
                <a:effectLst/>
                <a:latin typeface="Arial" panose="020B0604020202020204" pitchFamily="34" charset="0"/>
              </a:rPr>
              <a:t> Đảm bảo hệ thống xử lý nhanh, đáp ứng yêu cầu về tốc độ và khả năng tải.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Extensibility (Khả năng mở rộng):</a:t>
            </a:r>
            <a:r>
              <a:rPr kumimoji="0" lang="en-US" altLang="en-US" sz="1800" b="0" i="0" u="none" strike="noStrike" cap="none" normalizeH="0" baseline="0">
                <a:ln>
                  <a:noFill/>
                </a:ln>
                <a:solidFill>
                  <a:schemeClr val="tx1"/>
                </a:solidFill>
                <a:effectLst/>
                <a:latin typeface="Arial" panose="020B0604020202020204" pitchFamily="34" charset="0"/>
              </a:rPr>
              <a:t> Hệ thống dễ dàng mở rộng khi có nhu cầu, chẳng hạn như tăng thêm tính năng hoặc hỗ trợ người dùng.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Scalability (Khả năng mở rộng quy mô):</a:t>
            </a:r>
            <a:r>
              <a:rPr kumimoji="0" lang="en-US" altLang="en-US" sz="1800" b="0" i="0" u="none" strike="noStrike" cap="none" normalizeH="0" baseline="0">
                <a:ln>
                  <a:noFill/>
                </a:ln>
                <a:solidFill>
                  <a:schemeClr val="tx1"/>
                </a:solidFill>
                <a:effectLst/>
                <a:latin typeface="Arial" panose="020B0604020202020204" pitchFamily="34" charset="0"/>
              </a:rPr>
              <a:t> Hệ thống có thể xử lý tăng trưởng về số lượng người dùng và dữ liệu mà không bị giảm hiệu suất.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8355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B360E-3857-17C8-4F3E-3F7B673F23E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1829181-9034-F3FC-AA9B-FB0175F1A4DE}"/>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fontScale="925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a:t>Xác định các vấn đề chính trong thiết kế kiến trúc</a:t>
            </a:r>
            <a:endParaRPr lang="en-US" sz="4000" b="1">
              <a:solidFill>
                <a:srgbClr val="343434"/>
              </a:solidFill>
              <a:latin typeface="Arial"/>
              <a:ea typeface="Cooper Hewitt Bold"/>
              <a:cs typeface="Cooper Hewitt Bold"/>
              <a:sym typeface="Cooper Hewitt Bold"/>
            </a:endParaRPr>
          </a:p>
        </p:txBody>
      </p:sp>
      <p:sp>
        <p:nvSpPr>
          <p:cNvPr id="9" name="Slide Number Placeholder 8">
            <a:extLst>
              <a:ext uri="{FF2B5EF4-FFF2-40B4-BE49-F238E27FC236}">
                <a16:creationId xmlns:a16="http://schemas.microsoft.com/office/drawing/2014/main" id="{2287A2BF-B7C1-0AD8-55ED-349B5133A7BA}"/>
              </a:ext>
            </a:extLst>
          </p:cNvPr>
          <p:cNvSpPr>
            <a:spLocks noGrp="1"/>
          </p:cNvSpPr>
          <p:nvPr>
            <p:ph type="sldNum" sz="quarter" idx="12"/>
          </p:nvPr>
        </p:nvSpPr>
        <p:spPr/>
        <p:txBody>
          <a:bodyPr/>
          <a:lstStyle/>
          <a:p>
            <a:fld id="{87E7843D-FF13-4365-9478-9625B70A2705}" type="slidenum">
              <a:rPr lang="en-US" smtClean="0"/>
              <a:t>24</a:t>
            </a:fld>
            <a:endParaRPr lang="en-US"/>
          </a:p>
        </p:txBody>
      </p:sp>
      <p:sp>
        <p:nvSpPr>
          <p:cNvPr id="2" name="Content Placeholder 1">
            <a:extLst>
              <a:ext uri="{FF2B5EF4-FFF2-40B4-BE49-F238E27FC236}">
                <a16:creationId xmlns:a16="http://schemas.microsoft.com/office/drawing/2014/main" id="{82C0F94D-2ECB-B019-7DDF-6E559F29B709}"/>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vi-VN" b="1"/>
              <a:t>Khía cạnh quan tâm chung (Cross-cutting concerns):</a:t>
            </a:r>
            <a:endParaRPr lang="vi-VN"/>
          </a:p>
          <a:p>
            <a:pPr marL="742950" lvl="1" indent="-285750">
              <a:buFont typeface="Arial" panose="020B0604020202020204" pitchFamily="34" charset="0"/>
              <a:buChar char="•"/>
            </a:pPr>
            <a:r>
              <a:rPr lang="vi-VN" b="1"/>
              <a:t>Authentication (Xác thực):</a:t>
            </a:r>
            <a:r>
              <a:rPr lang="vi-VN"/>
              <a:t> Đảm bảo người dùng và hệ thống được xác thực đúng đắn.</a:t>
            </a:r>
          </a:p>
          <a:p>
            <a:pPr marL="742950" lvl="1" indent="-285750">
              <a:buFont typeface="Arial" panose="020B0604020202020204" pitchFamily="34" charset="0"/>
              <a:buChar char="•"/>
            </a:pPr>
            <a:r>
              <a:rPr lang="vi-VN" b="1"/>
              <a:t>Authorization (Phân quyền):</a:t>
            </a:r>
            <a:r>
              <a:rPr lang="vi-VN"/>
              <a:t> Quản lý quyền truy cập của người dùng đối với các tài nguyên khác nhau trong hệ thống.</a:t>
            </a:r>
          </a:p>
          <a:p>
            <a:pPr marL="742950" lvl="1" indent="-285750">
              <a:buFont typeface="Arial" panose="020B0604020202020204" pitchFamily="34" charset="0"/>
              <a:buChar char="•"/>
            </a:pPr>
            <a:r>
              <a:rPr lang="vi-VN" b="1"/>
              <a:t>Caching (Bộ nhớ đệm):</a:t>
            </a:r>
            <a:r>
              <a:rPr lang="vi-VN"/>
              <a:t> Cải thiện hiệu suất bằng cách lưu trữ các dữ liệu truy cập thường xuyên.</a:t>
            </a:r>
          </a:p>
          <a:p>
            <a:pPr marL="742950" lvl="1" indent="-285750">
              <a:buFont typeface="Arial" panose="020B0604020202020204" pitchFamily="34" charset="0"/>
              <a:buChar char="•"/>
            </a:pPr>
            <a:r>
              <a:rPr lang="vi-VN" b="1"/>
              <a:t>Exception handling (Xử lý ngoại lệ):</a:t>
            </a:r>
            <a:r>
              <a:rPr lang="vi-VN"/>
              <a:t> Quản lý lỗi và các tình huống bất thường một cách hiệu quả.</a:t>
            </a:r>
          </a:p>
          <a:p>
            <a:endParaRPr lang="en-US"/>
          </a:p>
        </p:txBody>
      </p:sp>
    </p:spTree>
    <p:extLst>
      <p:ext uri="{BB962C8B-B14F-4D97-AF65-F5344CB8AC3E}">
        <p14:creationId xmlns:p14="http://schemas.microsoft.com/office/powerpoint/2010/main" val="4613458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51BBD-ED37-2D35-A218-91375DE1388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5F4E4BF-23B3-1759-C766-C39979BE7835}"/>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b="1">
                <a:solidFill>
                  <a:srgbClr val="343434"/>
                </a:solidFill>
                <a:latin typeface="Arial"/>
                <a:ea typeface="Cooper Hewitt Bold"/>
                <a:cs typeface="Cooper Hewitt Bold"/>
                <a:sym typeface="Cooper Hewitt Bold"/>
              </a:rPr>
              <a:t>new</a:t>
            </a:r>
            <a:endParaRPr lang="en-US" sz="4000" b="1">
              <a:solidFill>
                <a:srgbClr val="343434"/>
              </a:solidFill>
              <a:latin typeface="Arial"/>
              <a:ea typeface="Cooper Hewitt Bold"/>
              <a:cs typeface="Cooper Hewitt Bold"/>
              <a:sym typeface="Cooper Hewitt Bold"/>
            </a:endParaRPr>
          </a:p>
        </p:txBody>
      </p:sp>
      <p:sp>
        <p:nvSpPr>
          <p:cNvPr id="9" name="Slide Number Placeholder 8">
            <a:extLst>
              <a:ext uri="{FF2B5EF4-FFF2-40B4-BE49-F238E27FC236}">
                <a16:creationId xmlns:a16="http://schemas.microsoft.com/office/drawing/2014/main" id="{CFD42947-EC37-0AD9-17F4-AF50DEA219FA}"/>
              </a:ext>
            </a:extLst>
          </p:cNvPr>
          <p:cNvSpPr>
            <a:spLocks noGrp="1"/>
          </p:cNvSpPr>
          <p:nvPr>
            <p:ph type="sldNum" sz="quarter" idx="12"/>
          </p:nvPr>
        </p:nvSpPr>
        <p:spPr/>
        <p:txBody>
          <a:bodyPr/>
          <a:lstStyle/>
          <a:p>
            <a:fld id="{87E7843D-FF13-4365-9478-9625B70A2705}" type="slidenum">
              <a:rPr lang="en-US" smtClean="0"/>
              <a:t>25</a:t>
            </a:fld>
            <a:endParaRPr lang="en-US"/>
          </a:p>
        </p:txBody>
      </p:sp>
      <p:sp>
        <p:nvSpPr>
          <p:cNvPr id="4" name="Content Placeholder 3">
            <a:extLst>
              <a:ext uri="{FF2B5EF4-FFF2-40B4-BE49-F238E27FC236}">
                <a16:creationId xmlns:a16="http://schemas.microsoft.com/office/drawing/2014/main" id="{8C458DDB-CED7-B9E2-78EF-9E810101D63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81579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FABAB-9B23-4549-961F-264116BA4C5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AD6E659-DCEF-6EF1-DA23-347B5F843F70}"/>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fontScale="7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ts val="8400"/>
              </a:lnSpc>
            </a:pPr>
            <a:r>
              <a:rPr lang="en-US" sz="4000" b="1">
                <a:solidFill>
                  <a:srgbClr val="343434"/>
                </a:solidFill>
                <a:latin typeface="Arial"/>
                <a:ea typeface="Cooper Hewitt Bold"/>
                <a:cs typeface="Cooper Hewitt Bold"/>
                <a:sym typeface="Cooper Hewitt Bold"/>
              </a:rPr>
              <a:t>MỐI QUAN HỆ GIỮA CA SỬ DỤNG VÀ CÁC TÁC NHÂN</a:t>
            </a:r>
          </a:p>
        </p:txBody>
      </p:sp>
      <p:sp>
        <p:nvSpPr>
          <p:cNvPr id="8" name="Content Placeholder 7">
            <a:extLst>
              <a:ext uri="{FF2B5EF4-FFF2-40B4-BE49-F238E27FC236}">
                <a16:creationId xmlns:a16="http://schemas.microsoft.com/office/drawing/2014/main" id="{319D8904-3B30-9AD6-CB21-F1C95C4E060A}"/>
              </a:ext>
            </a:extLst>
          </p:cNvPr>
          <p:cNvSpPr>
            <a:spLocks noGrp="1"/>
          </p:cNvSpPr>
          <p:nvPr>
            <p:ph idx="1"/>
          </p:nvPr>
        </p:nvSpPr>
        <p:spPr>
          <a:xfrm>
            <a:off x="1484310" y="2666999"/>
            <a:ext cx="6006735" cy="3352801"/>
          </a:xfrm>
        </p:spPr>
        <p:txBody>
          <a:bodyPr>
            <a:normAutofit/>
          </a:bodyPr>
          <a:lstStyle/>
          <a:p>
            <a:pPr algn="just">
              <a:lnSpc>
                <a:spcPts val="3499"/>
              </a:lnSpc>
            </a:pPr>
            <a:r>
              <a:rPr lang="en-US" sz="2400" b="0">
                <a:solidFill>
                  <a:srgbClr val="343434"/>
                </a:solidFill>
                <a:latin typeface="Arial"/>
                <a:ea typeface="DM Sans"/>
                <a:cs typeface="DM Sans"/>
                <a:sym typeface="DM Sans"/>
              </a:rPr>
              <a:t>Các diễn viên (actors) có thể được kết nối với các trường hợp sử dụng (use cases) thông qua các mối quan hệ, chỉ ra rằng diễn viên và trường hợp sử dụng giao tiếp với nhau thông qua các tin nhắn.</a:t>
            </a:r>
          </a:p>
        </p:txBody>
      </p:sp>
      <p:sp>
        <p:nvSpPr>
          <p:cNvPr id="9" name="Slide Number Placeholder 8">
            <a:extLst>
              <a:ext uri="{FF2B5EF4-FFF2-40B4-BE49-F238E27FC236}">
                <a16:creationId xmlns:a16="http://schemas.microsoft.com/office/drawing/2014/main" id="{A1B0DE50-EE7B-EF7D-0155-AE19AEF0041D}"/>
              </a:ext>
            </a:extLst>
          </p:cNvPr>
          <p:cNvSpPr>
            <a:spLocks noGrp="1"/>
          </p:cNvSpPr>
          <p:nvPr>
            <p:ph type="sldNum" sz="quarter" idx="12"/>
          </p:nvPr>
        </p:nvSpPr>
        <p:spPr/>
        <p:txBody>
          <a:bodyPr/>
          <a:lstStyle/>
          <a:p>
            <a:fld id="{87E7843D-FF13-4365-9478-9625B70A2705}" type="slidenum">
              <a:rPr lang="en-US" smtClean="0"/>
              <a:t>26</a:t>
            </a:fld>
            <a:endParaRPr lang="en-US"/>
          </a:p>
        </p:txBody>
      </p:sp>
      <p:pic>
        <p:nvPicPr>
          <p:cNvPr id="3" name="Picture 2">
            <a:extLst>
              <a:ext uri="{FF2B5EF4-FFF2-40B4-BE49-F238E27FC236}">
                <a16:creationId xmlns:a16="http://schemas.microsoft.com/office/drawing/2014/main" id="{7B2D78A1-BFBA-F738-6849-01EE535F308F}"/>
              </a:ext>
            </a:extLst>
          </p:cNvPr>
          <p:cNvPicPr>
            <a:picLocks noChangeAspect="1"/>
          </p:cNvPicPr>
          <p:nvPr/>
        </p:nvPicPr>
        <p:blipFill>
          <a:blip r:embed="rId2"/>
          <a:stretch>
            <a:fillRect/>
          </a:stretch>
        </p:blipFill>
        <p:spPr>
          <a:xfrm>
            <a:off x="5442971" y="5200535"/>
            <a:ext cx="6687483" cy="1638529"/>
          </a:xfrm>
          <a:prstGeom prst="rect">
            <a:avLst/>
          </a:prstGeom>
        </p:spPr>
      </p:pic>
    </p:spTree>
    <p:extLst>
      <p:ext uri="{BB962C8B-B14F-4D97-AF65-F5344CB8AC3E}">
        <p14:creationId xmlns:p14="http://schemas.microsoft.com/office/powerpoint/2010/main" val="4220445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7A5C-8898-70C7-438A-199EE612294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B46DC4B-247F-E856-7B7B-1CE386EBF28F}"/>
              </a:ext>
            </a:extLst>
          </p:cNvPr>
          <p:cNvSpPr>
            <a:spLocks noGrp="1"/>
          </p:cNvSpPr>
          <p:nvPr>
            <p:ph type="sldNum" sz="quarter" idx="12"/>
          </p:nvPr>
        </p:nvSpPr>
        <p:spPr/>
        <p:txBody>
          <a:bodyPr/>
          <a:lstStyle/>
          <a:p>
            <a:fld id="{87E7843D-FF13-4365-9478-9625B70A2705}" type="slidenum">
              <a:rPr lang="en-US" smtClean="0"/>
              <a:t>27</a:t>
            </a:fld>
            <a:endParaRPr lang="en-US"/>
          </a:p>
        </p:txBody>
      </p:sp>
      <p:pic>
        <p:nvPicPr>
          <p:cNvPr id="3" name="Picture 2">
            <a:extLst>
              <a:ext uri="{FF2B5EF4-FFF2-40B4-BE49-F238E27FC236}">
                <a16:creationId xmlns:a16="http://schemas.microsoft.com/office/drawing/2014/main" id="{B98DC498-8A2D-0D90-2647-699FFB0FF1CC}"/>
              </a:ext>
            </a:extLst>
          </p:cNvPr>
          <p:cNvPicPr>
            <a:picLocks noChangeAspect="1"/>
          </p:cNvPicPr>
          <p:nvPr/>
        </p:nvPicPr>
        <p:blipFill>
          <a:blip r:embed="rId2"/>
          <a:stretch>
            <a:fillRect/>
          </a:stretch>
        </p:blipFill>
        <p:spPr>
          <a:xfrm>
            <a:off x="0" y="0"/>
            <a:ext cx="12192000" cy="6875585"/>
          </a:xfrm>
          <a:prstGeom prst="rect">
            <a:avLst/>
          </a:prstGeom>
        </p:spPr>
      </p:pic>
    </p:spTree>
    <p:extLst>
      <p:ext uri="{BB962C8B-B14F-4D97-AF65-F5344CB8AC3E}">
        <p14:creationId xmlns:p14="http://schemas.microsoft.com/office/powerpoint/2010/main" val="2635653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D4CD-844E-D5DF-B94A-0EC5BB43461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D41E478-725A-7520-9E52-0167E480403B}"/>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t>Biểu đồ trạng thái (Statechart Diagram)</a:t>
            </a:r>
            <a:endParaRPr lang="en-US" sz="4000" b="1">
              <a:latin typeface="Arial"/>
            </a:endParaRPr>
          </a:p>
        </p:txBody>
      </p:sp>
      <p:sp>
        <p:nvSpPr>
          <p:cNvPr id="2" name="Content Placeholder 1">
            <a:extLst>
              <a:ext uri="{FF2B5EF4-FFF2-40B4-BE49-F238E27FC236}">
                <a16:creationId xmlns:a16="http://schemas.microsoft.com/office/drawing/2014/main" id="{4DC96454-F515-EC88-F787-38F5D2D10808}"/>
              </a:ext>
            </a:extLst>
          </p:cNvPr>
          <p:cNvSpPr>
            <a:spLocks noGrp="1"/>
          </p:cNvSpPr>
          <p:nvPr>
            <p:ph idx="1"/>
          </p:nvPr>
        </p:nvSpPr>
        <p:spPr/>
        <p:txBody>
          <a:bodyPr>
            <a:normAutofit/>
          </a:bodyPr>
          <a:lstStyle/>
          <a:p>
            <a:pPr marL="283464" indent="-283464"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Là một loại biểu đồ trong UML, mô tả hành vi của một đối tượng theo thời gian khi nó chuyển từ trạng thái này sang trạng thái khác để phản ứng với các sự kiện.</a:t>
            </a:r>
            <a:endParaRPr lang="en-US">
              <a:effectLst/>
            </a:endParaRPr>
          </a:p>
          <a:p>
            <a:pPr marL="283464" indent="-283464" algn="l" rtl="0" eaLnBrk="1" latinLnBrk="0" hangingPunct="1">
              <a:spcBef>
                <a:spcPts val="480"/>
              </a:spcBef>
              <a:spcAft>
                <a:spcPts val="600"/>
              </a:spcAft>
              <a:buNone/>
            </a:pPr>
            <a:r>
              <a:rPr lang="en-US" sz="1800" kern="1200">
                <a:solidFill>
                  <a:srgbClr val="000000"/>
                </a:solidFill>
                <a:effectLst/>
                <a:latin typeface="+mn-ea"/>
                <a:ea typeface="+mn-ea"/>
                <a:cs typeface="+mn-cs"/>
              </a:rPr>
              <a:t>🔹 </a:t>
            </a:r>
            <a:r>
              <a:rPr lang="vi-VN" sz="1800" kern="1200">
                <a:solidFill>
                  <a:srgbClr val="000000"/>
                </a:solidFill>
                <a:effectLst/>
                <a:latin typeface="Arial" panose="020B0604020202020204" pitchFamily="34" charset="0"/>
                <a:ea typeface="+mn-ea"/>
                <a:cs typeface="+mn-cs"/>
              </a:rPr>
              <a:t>Được dùng phổ biến để:</a:t>
            </a:r>
            <a:endParaRPr lang="en-US">
              <a:effectLst/>
            </a:endParaRPr>
          </a:p>
          <a:p>
            <a:pPr marL="283464" indent="-283464"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Theo dõi vòng đời của đối tượng</a:t>
            </a:r>
            <a:endParaRPr lang="en-US">
              <a:effectLst/>
            </a:endParaRPr>
          </a:p>
          <a:p>
            <a:pPr marL="283464" indent="-283464"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Biểu diễn logic điều khiển</a:t>
            </a:r>
            <a:endParaRPr lang="en-US">
              <a:effectLst/>
            </a:endParaRPr>
          </a:p>
          <a:p>
            <a:pPr marL="283464" indent="-283464" algn="l" rtl="0" eaLnBrk="1" latinLnBrk="0" hangingPunct="1">
              <a:spcBef>
                <a:spcPts val="480"/>
              </a:spcBef>
              <a:spcAft>
                <a:spcPts val="600"/>
              </a:spcAft>
            </a:pPr>
            <a:r>
              <a:rPr lang="vi-VN" sz="1800" kern="1200">
                <a:solidFill>
                  <a:srgbClr val="000000"/>
                </a:solidFill>
                <a:effectLst/>
                <a:latin typeface="Arial" panose="020B0604020202020204" pitchFamily="34" charset="0"/>
                <a:ea typeface="+mn-ea"/>
                <a:cs typeface="+mn-cs"/>
              </a:rPr>
              <a:t>Mô tả hành vi động trong hệ thống</a:t>
            </a:r>
            <a:endParaRPr lang="en-US">
              <a:effectLst/>
            </a:endParaRPr>
          </a:p>
        </p:txBody>
      </p:sp>
      <p:sp>
        <p:nvSpPr>
          <p:cNvPr id="3" name="Slide Number Placeholder 2">
            <a:extLst>
              <a:ext uri="{FF2B5EF4-FFF2-40B4-BE49-F238E27FC236}">
                <a16:creationId xmlns:a16="http://schemas.microsoft.com/office/drawing/2014/main" id="{B4AE0B4D-FBDB-250D-EFAB-1C9DAEE3D4D7}"/>
              </a:ext>
            </a:extLst>
          </p:cNvPr>
          <p:cNvSpPr>
            <a:spLocks noGrp="1"/>
          </p:cNvSpPr>
          <p:nvPr>
            <p:ph type="sldNum" sz="quarter" idx="12"/>
          </p:nvPr>
        </p:nvSpPr>
        <p:spPr/>
        <p:txBody>
          <a:bodyPr/>
          <a:lstStyle/>
          <a:p>
            <a:fld id="{87E7843D-FF13-4365-9478-9625B70A2705}" type="slidenum">
              <a:rPr lang="en-US" smtClean="0"/>
              <a:t>28</a:t>
            </a:fld>
            <a:endParaRPr lang="en-US"/>
          </a:p>
        </p:txBody>
      </p:sp>
    </p:spTree>
    <p:extLst>
      <p:ext uri="{BB962C8B-B14F-4D97-AF65-F5344CB8AC3E}">
        <p14:creationId xmlns:p14="http://schemas.microsoft.com/office/powerpoint/2010/main" val="4066790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57F0-060F-6848-48D3-5B442A044E2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89E58E6-34ED-EDC1-3D7B-EA78779F6E54}"/>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t>Biểu đồ trạng thái (Statechart Diagram)</a:t>
            </a:r>
            <a:endParaRPr lang="en-US" sz="4000" b="1">
              <a:latin typeface="Arial"/>
            </a:endParaRPr>
          </a:p>
        </p:txBody>
      </p:sp>
      <p:sp>
        <p:nvSpPr>
          <p:cNvPr id="2" name="Content Placeholder 1">
            <a:extLst>
              <a:ext uri="{FF2B5EF4-FFF2-40B4-BE49-F238E27FC236}">
                <a16:creationId xmlns:a16="http://schemas.microsoft.com/office/drawing/2014/main" id="{FEC9C59D-F51E-051E-8ED2-B108301FBD1E}"/>
              </a:ext>
            </a:extLst>
          </p:cNvPr>
          <p:cNvSpPr>
            <a:spLocks noGrp="1"/>
          </p:cNvSpPr>
          <p:nvPr>
            <p:ph idx="1"/>
          </p:nvPr>
        </p:nvSpPr>
        <p:spPr/>
        <p:txBody>
          <a:bodyPr>
            <a:normAutofit/>
          </a:bodyPr>
          <a:lstStyle/>
          <a:p>
            <a:pPr marL="283464" indent="-283464"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Là một loại biểu đồ trong UML, mô tả hành vi của một đối tượng theo thời gian khi nó chuyển từ trạng thái này sang trạng thái khác để phản ứng với các sự kiện.</a:t>
            </a:r>
            <a:endParaRPr lang="en-US">
              <a:effectLst/>
            </a:endParaRPr>
          </a:p>
          <a:p>
            <a:pPr marL="283464" indent="-283464"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Được dùng phổ biến để:</a:t>
            </a:r>
            <a:endParaRPr lang="en-US">
              <a:effectLst/>
            </a:endParaRPr>
          </a:p>
          <a:p>
            <a:pPr marL="283464" indent="-283464" algn="l" rtl="0" eaLnBrk="1" latinLnBrk="0" hangingPunct="1">
              <a:spcBef>
                <a:spcPts val="480"/>
              </a:spcBef>
              <a:spcAft>
                <a:spcPts val="600"/>
              </a:spcAft>
              <a:buNone/>
            </a:pPr>
            <a:r>
              <a:rPr lang="en-US" sz="1800">
                <a:solidFill>
                  <a:srgbClr val="000000"/>
                </a:solidFill>
                <a:latin typeface="Arial" panose="020B0604020202020204" pitchFamily="34" charset="0"/>
              </a:rPr>
              <a:t>		</a:t>
            </a:r>
            <a:r>
              <a:rPr lang="vi-VN" sz="1800" kern="1200">
                <a:solidFill>
                  <a:srgbClr val="000000"/>
                </a:solidFill>
                <a:effectLst/>
                <a:latin typeface="Arial" panose="020B0604020202020204" pitchFamily="34" charset="0"/>
                <a:ea typeface="+mn-ea"/>
                <a:cs typeface="+mn-cs"/>
              </a:rPr>
              <a:t>Theo dõi vòng đời của đối tượng</a:t>
            </a:r>
            <a:endParaRPr lang="en-US">
              <a:effectLst/>
            </a:endParaRPr>
          </a:p>
          <a:p>
            <a:pPr marL="283464" indent="-283464" algn="l" rtl="0" eaLnBrk="1" latinLnBrk="0" hangingPunct="1">
              <a:spcBef>
                <a:spcPts val="480"/>
              </a:spcBef>
              <a:spcAft>
                <a:spcPts val="600"/>
              </a:spcAft>
              <a:buNone/>
            </a:pPr>
            <a:r>
              <a:rPr lang="en-US" sz="1800" kern="1200">
                <a:solidFill>
                  <a:srgbClr val="000000"/>
                </a:solidFill>
                <a:effectLst/>
                <a:latin typeface="Arial" panose="020B0604020202020204" pitchFamily="34" charset="0"/>
                <a:ea typeface="+mn-ea"/>
                <a:cs typeface="+mn-cs"/>
              </a:rPr>
              <a:t>		</a:t>
            </a:r>
            <a:r>
              <a:rPr lang="vi-VN" sz="1800" kern="1200">
                <a:solidFill>
                  <a:srgbClr val="000000"/>
                </a:solidFill>
                <a:effectLst/>
                <a:latin typeface="Arial" panose="020B0604020202020204" pitchFamily="34" charset="0"/>
                <a:ea typeface="+mn-ea"/>
                <a:cs typeface="+mn-cs"/>
              </a:rPr>
              <a:t>Biểu diễn logic điều khiển</a:t>
            </a:r>
            <a:endParaRPr lang="en-US">
              <a:effectLst/>
            </a:endParaRPr>
          </a:p>
          <a:p>
            <a:pPr marL="0" indent="0" algn="l" rtl="0" eaLnBrk="1" latinLnBrk="0" hangingPunct="1">
              <a:spcBef>
                <a:spcPts val="480"/>
              </a:spcBef>
              <a:spcAft>
                <a:spcPts val="600"/>
              </a:spcAft>
              <a:buNone/>
            </a:pPr>
            <a:r>
              <a:rPr lang="vi-VN" sz="1800" kern="1200">
                <a:solidFill>
                  <a:srgbClr val="000000"/>
                </a:solidFill>
                <a:effectLst/>
                <a:latin typeface="Arial" panose="020B0604020202020204" pitchFamily="34" charset="0"/>
                <a:ea typeface="+mn-ea"/>
                <a:cs typeface="+mn-cs"/>
              </a:rPr>
              <a:t>Mô tả hành vi động trong hệ thống</a:t>
            </a:r>
            <a:endParaRPr lang="en-US">
              <a:effectLst/>
            </a:endParaRPr>
          </a:p>
        </p:txBody>
      </p:sp>
      <p:sp>
        <p:nvSpPr>
          <p:cNvPr id="3" name="Slide Number Placeholder 2">
            <a:extLst>
              <a:ext uri="{FF2B5EF4-FFF2-40B4-BE49-F238E27FC236}">
                <a16:creationId xmlns:a16="http://schemas.microsoft.com/office/drawing/2014/main" id="{ABC8FCBC-C770-43A8-D9F7-8A4FA2653DFF}"/>
              </a:ext>
            </a:extLst>
          </p:cNvPr>
          <p:cNvSpPr>
            <a:spLocks noGrp="1"/>
          </p:cNvSpPr>
          <p:nvPr>
            <p:ph type="sldNum" sz="quarter" idx="12"/>
          </p:nvPr>
        </p:nvSpPr>
        <p:spPr/>
        <p:txBody>
          <a:bodyPr/>
          <a:lstStyle/>
          <a:p>
            <a:fld id="{87E7843D-FF13-4365-9478-9625B70A2705}" type="slidenum">
              <a:rPr lang="en-US" smtClean="0"/>
              <a:t>29</a:t>
            </a:fld>
            <a:endParaRPr lang="en-US"/>
          </a:p>
        </p:txBody>
      </p:sp>
    </p:spTree>
    <p:extLst>
      <p:ext uri="{BB962C8B-B14F-4D97-AF65-F5344CB8AC3E}">
        <p14:creationId xmlns:p14="http://schemas.microsoft.com/office/powerpoint/2010/main" val="3516211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22708-07B6-EE82-C2AE-BE9411C67A1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FB0070-901A-1C20-2914-7079FF891D57}"/>
              </a:ext>
            </a:extLst>
          </p:cNvPr>
          <p:cNvSpPr>
            <a:spLocks noGrp="1"/>
          </p:cNvSpPr>
          <p:nvPr>
            <p:ph type="sldNum" sz="quarter" idx="12"/>
          </p:nvPr>
        </p:nvSpPr>
        <p:spPr/>
        <p:txBody>
          <a:bodyPr/>
          <a:lstStyle/>
          <a:p>
            <a:fld id="{87E7843D-FF13-4365-9478-9625B70A2705}" type="slidenum">
              <a:rPr lang="en-US" smtClean="0"/>
              <a:t>30</a:t>
            </a:fld>
            <a:endParaRPr lang="en-US"/>
          </a:p>
        </p:txBody>
      </p:sp>
      <p:pic>
        <p:nvPicPr>
          <p:cNvPr id="8" name="Picture 7">
            <a:extLst>
              <a:ext uri="{FF2B5EF4-FFF2-40B4-BE49-F238E27FC236}">
                <a16:creationId xmlns:a16="http://schemas.microsoft.com/office/drawing/2014/main" id="{830FA054-5843-42F8-E36F-9CEBC7AA33F7}"/>
              </a:ext>
            </a:extLst>
          </p:cNvPr>
          <p:cNvPicPr>
            <a:picLocks noChangeAspect="1"/>
          </p:cNvPicPr>
          <p:nvPr/>
        </p:nvPicPr>
        <p:blipFill>
          <a:blip r:embed="rId2"/>
          <a:stretch>
            <a:fillRect/>
          </a:stretch>
        </p:blipFill>
        <p:spPr>
          <a:xfrm>
            <a:off x="2470638" y="0"/>
            <a:ext cx="7605345" cy="6858000"/>
          </a:xfrm>
          <a:prstGeom prst="rect">
            <a:avLst/>
          </a:prstGeom>
        </p:spPr>
      </p:pic>
    </p:spTree>
    <p:extLst>
      <p:ext uri="{BB962C8B-B14F-4D97-AF65-F5344CB8AC3E}">
        <p14:creationId xmlns:p14="http://schemas.microsoft.com/office/powerpoint/2010/main" val="2429776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6743-EAAA-365B-1AED-7E5D633110A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E43B0C2-B416-9E29-8298-FBDF818CF7B4}"/>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t>Ứng dụng của Biểu đồ Trạng thái</a:t>
            </a:r>
            <a:endParaRPr lang="en-US" sz="4000" b="1">
              <a:latin typeface="Arial"/>
            </a:endParaRPr>
          </a:p>
        </p:txBody>
      </p:sp>
      <p:sp>
        <p:nvSpPr>
          <p:cNvPr id="2" name="Content Placeholder 1">
            <a:extLst>
              <a:ext uri="{FF2B5EF4-FFF2-40B4-BE49-F238E27FC236}">
                <a16:creationId xmlns:a16="http://schemas.microsoft.com/office/drawing/2014/main" id="{78838327-072B-155C-BB90-8FD01BEA537C}"/>
              </a:ext>
            </a:extLst>
          </p:cNvPr>
          <p:cNvSpPr>
            <a:spLocks noGrp="1"/>
          </p:cNvSpPr>
          <p:nvPr>
            <p:ph idx="1"/>
          </p:nvPr>
        </p:nvSpPr>
        <p:spPr/>
        <p:txBody>
          <a:bodyPr>
            <a:normAutofit fontScale="85000" lnSpcReduction="10000"/>
          </a:bodyPr>
          <a:lstStyle/>
          <a:p>
            <a:pPr>
              <a:buNone/>
            </a:pPr>
            <a:r>
              <a:rPr lang="vi-VN" sz="2400">
                <a:solidFill>
                  <a:srgbClr val="000000"/>
                </a:solidFill>
                <a:latin typeface="Arial"/>
              </a:rPr>
              <a:t>Ứng dụng trong mô hình hóa hành vi của hệ thống phức tạp</a:t>
            </a:r>
            <a:endParaRPr lang="vi-VN"/>
          </a:p>
          <a:p>
            <a:pPr marL="0" indent="0">
              <a:buNone/>
            </a:pPr>
            <a:r>
              <a:rPr lang="en-US" sz="2400">
                <a:solidFill>
                  <a:srgbClr val="000000"/>
                </a:solidFill>
                <a:latin typeface="Arial"/>
              </a:rPr>
              <a:t>	</a:t>
            </a:r>
            <a:r>
              <a:rPr lang="vi-VN" sz="2400">
                <a:solidFill>
                  <a:srgbClr val="000000"/>
                </a:solidFill>
                <a:latin typeface="Arial"/>
              </a:rPr>
              <a:t>Quản lý trạng thái của đối tượng trong phần mềm (VD: đơn hàng, người dùng, máy trạng thái tự động)</a:t>
            </a:r>
          </a:p>
          <a:p>
            <a:pPr marL="0" indent="0">
              <a:buNone/>
            </a:pPr>
            <a:r>
              <a:rPr lang="en-US" sz="2400">
                <a:solidFill>
                  <a:srgbClr val="000000"/>
                </a:solidFill>
                <a:latin typeface="Arial"/>
              </a:rPr>
              <a:t>	</a:t>
            </a:r>
            <a:r>
              <a:rPr lang="vi-VN" sz="2400">
                <a:solidFill>
                  <a:srgbClr val="000000"/>
                </a:solidFill>
                <a:latin typeface="Arial"/>
              </a:rPr>
              <a:t>Hiểu rõ cách hệ thống phản ứng với sự kiện trong các tình huống khác nhau</a:t>
            </a:r>
          </a:p>
          <a:p>
            <a:pPr marL="0" indent="0">
              <a:buNone/>
            </a:pPr>
            <a:r>
              <a:rPr lang="en-US" sz="2400">
                <a:solidFill>
                  <a:srgbClr val="000000"/>
                </a:solidFill>
                <a:latin typeface="Arial"/>
              </a:rPr>
              <a:t>	</a:t>
            </a:r>
            <a:r>
              <a:rPr lang="vi-VN" sz="2400">
                <a:solidFill>
                  <a:srgbClr val="000000"/>
                </a:solidFill>
                <a:latin typeface="Arial"/>
              </a:rPr>
              <a:t>Thiết kế hệ thống nhúng, trò chơi, ứng dụng điều khiển…</a:t>
            </a:r>
          </a:p>
          <a:p>
            <a:pPr>
              <a:buNone/>
            </a:pPr>
            <a:r>
              <a:rPr lang="vi-VN" sz="2400">
                <a:solidFill>
                  <a:srgbClr val="000000"/>
                </a:solidFill>
                <a:latin typeface="Arial"/>
              </a:rPr>
              <a:t>Giúp nhóm phát triển hiểu rõ:</a:t>
            </a:r>
          </a:p>
          <a:p>
            <a:pPr marL="0" indent="0">
              <a:buNone/>
            </a:pPr>
            <a:r>
              <a:rPr lang="en-US" sz="2400">
                <a:solidFill>
                  <a:srgbClr val="000000"/>
                </a:solidFill>
                <a:latin typeface="Arial"/>
              </a:rPr>
              <a:t>	</a:t>
            </a:r>
            <a:r>
              <a:rPr lang="vi-VN" sz="2400">
                <a:solidFill>
                  <a:srgbClr val="000000"/>
                </a:solidFill>
                <a:latin typeface="Arial"/>
              </a:rPr>
              <a:t>Quy trình nghiệp vụ</a:t>
            </a:r>
          </a:p>
          <a:p>
            <a:pPr marL="0" indent="0">
              <a:buNone/>
            </a:pPr>
            <a:r>
              <a:rPr lang="en-US" sz="2400">
                <a:solidFill>
                  <a:srgbClr val="000000"/>
                </a:solidFill>
                <a:latin typeface="Arial"/>
              </a:rPr>
              <a:t>	</a:t>
            </a:r>
            <a:r>
              <a:rPr lang="vi-VN" sz="2400">
                <a:solidFill>
                  <a:srgbClr val="000000"/>
                </a:solidFill>
                <a:latin typeface="Arial"/>
              </a:rPr>
              <a:t>Ràng buộc logic theo trạng thái</a:t>
            </a:r>
          </a:p>
        </p:txBody>
      </p:sp>
      <p:sp>
        <p:nvSpPr>
          <p:cNvPr id="3" name="Slide Number Placeholder 2">
            <a:extLst>
              <a:ext uri="{FF2B5EF4-FFF2-40B4-BE49-F238E27FC236}">
                <a16:creationId xmlns:a16="http://schemas.microsoft.com/office/drawing/2014/main" id="{5019AA22-83E5-832F-0AC7-98975F4EA777}"/>
              </a:ext>
            </a:extLst>
          </p:cNvPr>
          <p:cNvSpPr>
            <a:spLocks noGrp="1"/>
          </p:cNvSpPr>
          <p:nvPr>
            <p:ph type="sldNum" sz="quarter" idx="12"/>
          </p:nvPr>
        </p:nvSpPr>
        <p:spPr/>
        <p:txBody>
          <a:bodyPr/>
          <a:lstStyle/>
          <a:p>
            <a:fld id="{87E7843D-FF13-4365-9478-9625B70A2705}" type="slidenum">
              <a:rPr lang="en-US" smtClean="0"/>
              <a:t>31</a:t>
            </a:fld>
            <a:endParaRPr lang="en-US"/>
          </a:p>
        </p:txBody>
      </p:sp>
    </p:spTree>
    <p:extLst>
      <p:ext uri="{BB962C8B-B14F-4D97-AF65-F5344CB8AC3E}">
        <p14:creationId xmlns:p14="http://schemas.microsoft.com/office/powerpoint/2010/main" val="260011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A042-C83D-9F92-DCDD-2DCB697B5D9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CEE3B77-82FA-A1D7-8309-EE5295C46839}"/>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Tại sao cần dùng Biểu đồ Trạng thái?</a:t>
            </a:r>
            <a:endParaRPr lang="en-US" sz="4000" b="1">
              <a:latin typeface="Arial"/>
            </a:endParaRPr>
          </a:p>
        </p:txBody>
      </p:sp>
      <p:sp>
        <p:nvSpPr>
          <p:cNvPr id="2" name="Content Placeholder 1">
            <a:extLst>
              <a:ext uri="{FF2B5EF4-FFF2-40B4-BE49-F238E27FC236}">
                <a16:creationId xmlns:a16="http://schemas.microsoft.com/office/drawing/2014/main" id="{6380CEFA-1945-D084-AEE3-0DAF713B935D}"/>
              </a:ext>
            </a:extLst>
          </p:cNvPr>
          <p:cNvSpPr>
            <a:spLocks noGrp="1"/>
          </p:cNvSpPr>
          <p:nvPr>
            <p:ph idx="1"/>
          </p:nvPr>
        </p:nvSpPr>
        <p:spPr/>
        <p:txBody>
          <a:bodyPr>
            <a:normAutofit fontScale="92500" lnSpcReduction="10000"/>
          </a:bodyPr>
          <a:lstStyle/>
          <a:p>
            <a:pPr>
              <a:buNone/>
            </a:pPr>
            <a:r>
              <a:rPr lang="en-US" sz="2400">
                <a:solidFill>
                  <a:srgbClr val="000000"/>
                </a:solidFill>
                <a:latin typeface="Arial"/>
              </a:rPr>
              <a:t> </a:t>
            </a:r>
            <a:r>
              <a:rPr lang="vi-VN" sz="2400">
                <a:solidFill>
                  <a:srgbClr val="000000"/>
                </a:solidFill>
                <a:latin typeface="Arial"/>
              </a:rPr>
              <a:t>Vì sao không chỉ dùng Sequence hay Use Case?</a:t>
            </a:r>
            <a:endParaRPr lang="vi-VN"/>
          </a:p>
          <a:p>
            <a:pPr>
              <a:buNone/>
            </a:pPr>
            <a:r>
              <a:rPr lang="en-US" sz="2400">
                <a:solidFill>
                  <a:srgbClr val="000000"/>
                </a:solidFill>
                <a:latin typeface="Arial"/>
              </a:rPr>
              <a:t>- </a:t>
            </a:r>
            <a:r>
              <a:rPr lang="vi-VN" sz="2400">
                <a:solidFill>
                  <a:srgbClr val="000000"/>
                </a:solidFill>
                <a:latin typeface="Arial"/>
              </a:rPr>
              <a:t>Use Case Diagram:</a:t>
            </a:r>
          </a:p>
          <a:p>
            <a:pPr marL="0" indent="0">
              <a:buNone/>
            </a:pPr>
            <a:r>
              <a:rPr lang="en-US" sz="2400">
                <a:solidFill>
                  <a:srgbClr val="000000"/>
                </a:solidFill>
                <a:latin typeface="Arial"/>
              </a:rPr>
              <a:t>	</a:t>
            </a:r>
            <a:r>
              <a:rPr lang="vi-VN" sz="2400">
                <a:solidFill>
                  <a:srgbClr val="000000"/>
                </a:solidFill>
                <a:latin typeface="Arial"/>
              </a:rPr>
              <a:t>Tốt để mô tả tương tác giữa người dùng và hệ thống</a:t>
            </a:r>
          </a:p>
          <a:p>
            <a:pPr marL="0" indent="0">
              <a:buNone/>
            </a:pPr>
            <a:r>
              <a:rPr lang="en-US" sz="2400">
                <a:solidFill>
                  <a:srgbClr val="000000"/>
                </a:solidFill>
                <a:latin typeface="Arial"/>
              </a:rPr>
              <a:t>	</a:t>
            </a:r>
            <a:r>
              <a:rPr lang="vi-VN" sz="2400">
                <a:solidFill>
                  <a:srgbClr val="000000"/>
                </a:solidFill>
                <a:latin typeface="Arial"/>
              </a:rPr>
              <a:t>Nhưng không mô tả được hành vi nội tại theo thời gian</a:t>
            </a:r>
            <a:endParaRPr lang="vi-VN"/>
          </a:p>
          <a:p>
            <a:pPr>
              <a:buNone/>
            </a:pPr>
            <a:r>
              <a:rPr lang="en-US" sz="2400">
                <a:solidFill>
                  <a:srgbClr val="000000"/>
                </a:solidFill>
                <a:latin typeface="Arial"/>
              </a:rPr>
              <a:t>- </a:t>
            </a:r>
            <a:r>
              <a:rPr lang="vi-VN" sz="2400">
                <a:solidFill>
                  <a:srgbClr val="000000"/>
                </a:solidFill>
                <a:latin typeface="Arial"/>
              </a:rPr>
              <a:t>Sequence Diagram:</a:t>
            </a:r>
          </a:p>
          <a:p>
            <a:pPr marL="0" indent="0">
              <a:buNone/>
            </a:pPr>
            <a:r>
              <a:rPr lang="en-US" sz="2400">
                <a:solidFill>
                  <a:srgbClr val="000000"/>
                </a:solidFill>
                <a:latin typeface="Arial"/>
              </a:rPr>
              <a:t>	</a:t>
            </a:r>
            <a:r>
              <a:rPr lang="vi-VN" sz="2400">
                <a:solidFill>
                  <a:srgbClr val="000000"/>
                </a:solidFill>
                <a:latin typeface="Arial"/>
              </a:rPr>
              <a:t>Mô tả luồng tương tác theo thời gian giữa các đối tượng</a:t>
            </a:r>
          </a:p>
          <a:p>
            <a:pPr marL="0" indent="0">
              <a:buNone/>
            </a:pPr>
            <a:r>
              <a:rPr lang="en-US" sz="2400">
                <a:solidFill>
                  <a:srgbClr val="000000"/>
                </a:solidFill>
                <a:latin typeface="Arial"/>
              </a:rPr>
              <a:t>	</a:t>
            </a:r>
            <a:r>
              <a:rPr lang="vi-VN" sz="2400">
                <a:solidFill>
                  <a:srgbClr val="000000"/>
                </a:solidFill>
                <a:latin typeface="Arial"/>
              </a:rPr>
              <a:t>Nhưng thiếu thông tin về trạng thái nội tại của từng đối tượng</a:t>
            </a:r>
            <a:endParaRPr lang="vi-VN"/>
          </a:p>
        </p:txBody>
      </p:sp>
      <p:sp>
        <p:nvSpPr>
          <p:cNvPr id="3" name="Slide Number Placeholder 2">
            <a:extLst>
              <a:ext uri="{FF2B5EF4-FFF2-40B4-BE49-F238E27FC236}">
                <a16:creationId xmlns:a16="http://schemas.microsoft.com/office/drawing/2014/main" id="{59752518-8E23-94B2-3F57-A47A50FEAFF6}"/>
              </a:ext>
            </a:extLst>
          </p:cNvPr>
          <p:cNvSpPr>
            <a:spLocks noGrp="1"/>
          </p:cNvSpPr>
          <p:nvPr>
            <p:ph type="sldNum" sz="quarter" idx="12"/>
          </p:nvPr>
        </p:nvSpPr>
        <p:spPr/>
        <p:txBody>
          <a:bodyPr/>
          <a:lstStyle/>
          <a:p>
            <a:fld id="{87E7843D-FF13-4365-9478-9625B70A2705}" type="slidenum">
              <a:rPr lang="en-US" smtClean="0"/>
              <a:t>32</a:t>
            </a:fld>
            <a:endParaRPr lang="en-US"/>
          </a:p>
        </p:txBody>
      </p:sp>
    </p:spTree>
    <p:extLst>
      <p:ext uri="{BB962C8B-B14F-4D97-AF65-F5344CB8AC3E}">
        <p14:creationId xmlns:p14="http://schemas.microsoft.com/office/powerpoint/2010/main" val="2245695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B89D7-492B-38C6-6FDF-B6A3FD1B832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3D6CEEF-0CF5-C933-99CB-55771AC52501}"/>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Tại sao cần dùng Biểu đồ Trạng thái?</a:t>
            </a:r>
            <a:endParaRPr lang="en-US" sz="4000" b="1">
              <a:latin typeface="Arial"/>
            </a:endParaRPr>
          </a:p>
        </p:txBody>
      </p:sp>
      <p:sp>
        <p:nvSpPr>
          <p:cNvPr id="2" name="Content Placeholder 1">
            <a:extLst>
              <a:ext uri="{FF2B5EF4-FFF2-40B4-BE49-F238E27FC236}">
                <a16:creationId xmlns:a16="http://schemas.microsoft.com/office/drawing/2014/main" id="{43D753A7-9EDF-4864-C19D-6D6D03BD298C}"/>
              </a:ext>
            </a:extLst>
          </p:cNvPr>
          <p:cNvSpPr>
            <a:spLocks noGrp="1"/>
          </p:cNvSpPr>
          <p:nvPr>
            <p:ph idx="1"/>
          </p:nvPr>
        </p:nvSpPr>
        <p:spPr/>
        <p:txBody>
          <a:bodyPr>
            <a:normAutofit/>
          </a:bodyPr>
          <a:lstStyle/>
          <a:p>
            <a:pPr>
              <a:buNone/>
            </a:pPr>
            <a:r>
              <a:rPr lang="vi-VN" sz="2400">
                <a:solidFill>
                  <a:srgbClr val="000000"/>
                </a:solidFill>
                <a:latin typeface="Arial"/>
              </a:rPr>
              <a:t>Biểu đồ trạng thái cho thấy:</a:t>
            </a:r>
          </a:p>
          <a:p>
            <a:pPr marL="0" indent="0">
              <a:buNone/>
            </a:pPr>
            <a:r>
              <a:rPr lang="en-US" sz="2400">
                <a:solidFill>
                  <a:srgbClr val="000000"/>
                </a:solidFill>
                <a:latin typeface="Arial"/>
              </a:rPr>
              <a:t>	</a:t>
            </a:r>
            <a:r>
              <a:rPr lang="vi-VN" sz="2400">
                <a:solidFill>
                  <a:srgbClr val="000000"/>
                </a:solidFill>
                <a:latin typeface="Arial"/>
              </a:rPr>
              <a:t>Các trạng thái hợp lệ của một đối tượng</a:t>
            </a:r>
          </a:p>
          <a:p>
            <a:pPr marL="0" indent="0">
              <a:buNone/>
            </a:pPr>
            <a:r>
              <a:rPr lang="en-US" sz="2400">
                <a:solidFill>
                  <a:srgbClr val="000000"/>
                </a:solidFill>
                <a:latin typeface="Arial"/>
              </a:rPr>
              <a:t>	</a:t>
            </a:r>
            <a:r>
              <a:rPr lang="vi-VN" sz="2400">
                <a:solidFill>
                  <a:srgbClr val="000000"/>
                </a:solidFill>
                <a:latin typeface="Arial"/>
              </a:rPr>
              <a:t>Điều kiện chuyển đổi giữa các trạng thái</a:t>
            </a:r>
          </a:p>
          <a:p>
            <a:pPr marL="0" indent="0">
              <a:buNone/>
            </a:pPr>
            <a:r>
              <a:rPr lang="en-US" sz="2400">
                <a:solidFill>
                  <a:srgbClr val="000000"/>
                </a:solidFill>
                <a:latin typeface="Arial"/>
              </a:rPr>
              <a:t>	</a:t>
            </a:r>
            <a:r>
              <a:rPr lang="vi-VN" sz="2400">
                <a:solidFill>
                  <a:srgbClr val="000000"/>
                </a:solidFill>
                <a:latin typeface="Arial"/>
              </a:rPr>
              <a:t>Sự kiện kích hoạt và hành động đi kèm</a:t>
            </a:r>
            <a:endParaRPr lang="vi-VN"/>
          </a:p>
        </p:txBody>
      </p:sp>
      <p:sp>
        <p:nvSpPr>
          <p:cNvPr id="3" name="Slide Number Placeholder 2">
            <a:extLst>
              <a:ext uri="{FF2B5EF4-FFF2-40B4-BE49-F238E27FC236}">
                <a16:creationId xmlns:a16="http://schemas.microsoft.com/office/drawing/2014/main" id="{384376D1-9ED5-293E-A925-B5B11A20FB52}"/>
              </a:ext>
            </a:extLst>
          </p:cNvPr>
          <p:cNvSpPr>
            <a:spLocks noGrp="1"/>
          </p:cNvSpPr>
          <p:nvPr>
            <p:ph type="sldNum" sz="quarter" idx="12"/>
          </p:nvPr>
        </p:nvSpPr>
        <p:spPr/>
        <p:txBody>
          <a:bodyPr/>
          <a:lstStyle/>
          <a:p>
            <a:fld id="{87E7843D-FF13-4365-9478-9625B70A2705}" type="slidenum">
              <a:rPr lang="en-US" smtClean="0"/>
              <a:t>33</a:t>
            </a:fld>
            <a:endParaRPr lang="en-US"/>
          </a:p>
        </p:txBody>
      </p:sp>
    </p:spTree>
    <p:extLst>
      <p:ext uri="{BB962C8B-B14F-4D97-AF65-F5344CB8AC3E}">
        <p14:creationId xmlns:p14="http://schemas.microsoft.com/office/powerpoint/2010/main" val="3833806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28E89-1C5D-DBE6-A1ED-E35753F37CE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9539B29-4F32-F859-EF23-739E87D3D2B9}"/>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t>Thành phần cơ bản của Biểu đồ Trạng thái</a:t>
            </a:r>
            <a:endParaRPr lang="en-US" sz="4000" b="1">
              <a:latin typeface="Arial"/>
            </a:endParaRPr>
          </a:p>
        </p:txBody>
      </p:sp>
      <p:sp>
        <p:nvSpPr>
          <p:cNvPr id="2" name="Content Placeholder 1">
            <a:extLst>
              <a:ext uri="{FF2B5EF4-FFF2-40B4-BE49-F238E27FC236}">
                <a16:creationId xmlns:a16="http://schemas.microsoft.com/office/drawing/2014/main" id="{BB3FA0B4-1942-7EE8-1FE7-8E88C1D91022}"/>
              </a:ext>
            </a:extLst>
          </p:cNvPr>
          <p:cNvSpPr>
            <a:spLocks noGrp="1"/>
          </p:cNvSpPr>
          <p:nvPr>
            <p:ph idx="1"/>
          </p:nvPr>
        </p:nvSpPr>
        <p:spPr>
          <a:xfrm>
            <a:off x="1484310" y="2666999"/>
            <a:ext cx="10018713" cy="2102217"/>
          </a:xfrm>
        </p:spPr>
        <p:txBody>
          <a:bodyPr>
            <a:normAutofit/>
          </a:bodyPr>
          <a:lstStyle/>
          <a:p>
            <a:pPr>
              <a:buNone/>
            </a:pPr>
            <a:r>
              <a:rPr lang="vi-VN" sz="2400" b="1">
                <a:solidFill>
                  <a:srgbClr val="000000"/>
                </a:solidFill>
                <a:latin typeface="Arial"/>
              </a:rPr>
              <a:t>1. Trạng thái (State)</a:t>
            </a:r>
          </a:p>
          <a:p>
            <a:pPr>
              <a:buFont typeface="Arial" panose="020B0604020202020204" pitchFamily="34" charset="0"/>
              <a:buChar char="•"/>
            </a:pPr>
            <a:r>
              <a:rPr lang="vi-VN" sz="2400">
                <a:solidFill>
                  <a:srgbClr val="000000"/>
                </a:solidFill>
                <a:latin typeface="Arial"/>
              </a:rPr>
              <a:t>Đại diện cho một giai đoạn cụ thể trong vòng đời của một đối tượng.</a:t>
            </a:r>
          </a:p>
          <a:p>
            <a:pPr>
              <a:buFont typeface="Arial" panose="020B0604020202020204" pitchFamily="34" charset="0"/>
              <a:buChar char="•"/>
            </a:pPr>
            <a:r>
              <a:rPr lang="vi-VN" sz="2400">
                <a:solidFill>
                  <a:srgbClr val="000000"/>
                </a:solidFill>
                <a:latin typeface="Arial"/>
              </a:rPr>
              <a:t>Trạng thái có thể kèm theo các hành động:</a:t>
            </a:r>
          </a:p>
        </p:txBody>
      </p:sp>
      <p:sp>
        <p:nvSpPr>
          <p:cNvPr id="3" name="Slide Number Placeholder 2">
            <a:extLst>
              <a:ext uri="{FF2B5EF4-FFF2-40B4-BE49-F238E27FC236}">
                <a16:creationId xmlns:a16="http://schemas.microsoft.com/office/drawing/2014/main" id="{60D35F14-ABFE-D330-7603-9BC6879D97AB}"/>
              </a:ext>
            </a:extLst>
          </p:cNvPr>
          <p:cNvSpPr>
            <a:spLocks noGrp="1"/>
          </p:cNvSpPr>
          <p:nvPr>
            <p:ph type="sldNum" sz="quarter" idx="12"/>
          </p:nvPr>
        </p:nvSpPr>
        <p:spPr/>
        <p:txBody>
          <a:bodyPr/>
          <a:lstStyle/>
          <a:p>
            <a:fld id="{87E7843D-FF13-4365-9478-9625B70A2705}" type="slidenum">
              <a:rPr lang="en-US" smtClean="0"/>
              <a:t>34</a:t>
            </a:fld>
            <a:endParaRPr lang="en-US"/>
          </a:p>
        </p:txBody>
      </p:sp>
      <p:graphicFrame>
        <p:nvGraphicFramePr>
          <p:cNvPr id="4" name="Table 3">
            <a:extLst>
              <a:ext uri="{FF2B5EF4-FFF2-40B4-BE49-F238E27FC236}">
                <a16:creationId xmlns:a16="http://schemas.microsoft.com/office/drawing/2014/main" id="{61484F81-761E-6B5A-0FD4-D8C7EB2B74C9}"/>
              </a:ext>
            </a:extLst>
          </p:cNvPr>
          <p:cNvGraphicFramePr>
            <a:graphicFrameLocks noGrp="1"/>
          </p:cNvGraphicFramePr>
          <p:nvPr/>
        </p:nvGraphicFramePr>
        <p:xfrm>
          <a:off x="1484311" y="4769216"/>
          <a:ext cx="10018712" cy="1463040"/>
        </p:xfrm>
        <a:graphic>
          <a:graphicData uri="http://schemas.openxmlformats.org/drawingml/2006/table">
            <a:tbl>
              <a:tblPr>
                <a:tableStyleId>{0505E3EF-67EA-436B-97B2-0124C06EBD24}</a:tableStyleId>
              </a:tblPr>
              <a:tblGrid>
                <a:gridCol w="5009356">
                  <a:extLst>
                    <a:ext uri="{9D8B030D-6E8A-4147-A177-3AD203B41FA5}">
                      <a16:colId xmlns:a16="http://schemas.microsoft.com/office/drawing/2014/main" val="1583761040"/>
                    </a:ext>
                  </a:extLst>
                </a:gridCol>
                <a:gridCol w="5009356">
                  <a:extLst>
                    <a:ext uri="{9D8B030D-6E8A-4147-A177-3AD203B41FA5}">
                      <a16:colId xmlns:a16="http://schemas.microsoft.com/office/drawing/2014/main" val="2698848690"/>
                    </a:ext>
                  </a:extLst>
                </a:gridCol>
              </a:tblGrid>
              <a:tr h="0">
                <a:tc>
                  <a:txBody>
                    <a:bodyPr/>
                    <a:lstStyle/>
                    <a:p>
                      <a:r>
                        <a:rPr lang="en-US"/>
                        <a:t>Hoạt động</a:t>
                      </a:r>
                    </a:p>
                  </a:txBody>
                  <a:tcPr anchor="ctr"/>
                </a:tc>
                <a:tc>
                  <a:txBody>
                    <a:bodyPr/>
                    <a:lstStyle/>
                    <a:p>
                      <a:r>
                        <a:rPr lang="en-US"/>
                        <a:t>Ý nghĩa</a:t>
                      </a:r>
                    </a:p>
                  </a:txBody>
                  <a:tcPr anchor="ctr"/>
                </a:tc>
                <a:extLst>
                  <a:ext uri="{0D108BD9-81ED-4DB2-BD59-A6C34878D82A}">
                    <a16:rowId xmlns:a16="http://schemas.microsoft.com/office/drawing/2014/main" val="2648445300"/>
                  </a:ext>
                </a:extLst>
              </a:tr>
              <a:tr h="0">
                <a:tc>
                  <a:txBody>
                    <a:bodyPr/>
                    <a:lstStyle/>
                    <a:p>
                      <a:r>
                        <a:rPr lang="en-US" b="1"/>
                        <a:t>entry</a:t>
                      </a:r>
                      <a:endParaRPr lang="en-US"/>
                    </a:p>
                  </a:txBody>
                  <a:tcPr anchor="ctr"/>
                </a:tc>
                <a:tc>
                  <a:txBody>
                    <a:bodyPr/>
                    <a:lstStyle/>
                    <a:p>
                      <a:r>
                        <a:rPr lang="en-US"/>
                        <a:t>Thực hiện khi bắt đầu vào trạng thái</a:t>
                      </a:r>
                    </a:p>
                  </a:txBody>
                  <a:tcPr anchor="ctr"/>
                </a:tc>
                <a:extLst>
                  <a:ext uri="{0D108BD9-81ED-4DB2-BD59-A6C34878D82A}">
                    <a16:rowId xmlns:a16="http://schemas.microsoft.com/office/drawing/2014/main" val="2010544287"/>
                  </a:ext>
                </a:extLst>
              </a:tr>
              <a:tr h="0">
                <a:tc>
                  <a:txBody>
                    <a:bodyPr/>
                    <a:lstStyle/>
                    <a:p>
                      <a:r>
                        <a:rPr lang="en-US" b="1"/>
                        <a:t>do</a:t>
                      </a:r>
                      <a:endParaRPr lang="en-US"/>
                    </a:p>
                  </a:txBody>
                  <a:tcPr anchor="ctr"/>
                </a:tc>
                <a:tc>
                  <a:txBody>
                    <a:bodyPr/>
                    <a:lstStyle/>
                    <a:p>
                      <a:r>
                        <a:rPr lang="vi-VN"/>
                        <a:t>Hành động được thực thi trong khi ở trạng thái</a:t>
                      </a:r>
                    </a:p>
                  </a:txBody>
                  <a:tcPr anchor="ctr"/>
                </a:tc>
                <a:extLst>
                  <a:ext uri="{0D108BD9-81ED-4DB2-BD59-A6C34878D82A}">
                    <a16:rowId xmlns:a16="http://schemas.microsoft.com/office/drawing/2014/main" val="4190241728"/>
                  </a:ext>
                </a:extLst>
              </a:tr>
              <a:tr h="0">
                <a:tc>
                  <a:txBody>
                    <a:bodyPr/>
                    <a:lstStyle/>
                    <a:p>
                      <a:r>
                        <a:rPr lang="en-US" b="1"/>
                        <a:t>exit</a:t>
                      </a:r>
                      <a:endParaRPr lang="en-US"/>
                    </a:p>
                  </a:txBody>
                  <a:tcPr anchor="ctr"/>
                </a:tc>
                <a:tc>
                  <a:txBody>
                    <a:bodyPr/>
                    <a:lstStyle/>
                    <a:p>
                      <a:r>
                        <a:rPr lang="en-US"/>
                        <a:t>Hành động xảy ra khi rời khỏi trạng thái</a:t>
                      </a:r>
                    </a:p>
                  </a:txBody>
                  <a:tcPr anchor="ctr"/>
                </a:tc>
                <a:extLst>
                  <a:ext uri="{0D108BD9-81ED-4DB2-BD59-A6C34878D82A}">
                    <a16:rowId xmlns:a16="http://schemas.microsoft.com/office/drawing/2014/main" val="2118769910"/>
                  </a:ext>
                </a:extLst>
              </a:tr>
            </a:tbl>
          </a:graphicData>
        </a:graphic>
      </p:graphicFrame>
    </p:spTree>
    <p:extLst>
      <p:ext uri="{BB962C8B-B14F-4D97-AF65-F5344CB8AC3E}">
        <p14:creationId xmlns:p14="http://schemas.microsoft.com/office/powerpoint/2010/main" val="2461619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217F3-A441-416A-25CF-26BD3A311E5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50BA439-287D-10E5-C8A6-82B35E1A281B}"/>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t>Thành phần cơ bản của Biểu đồ Trạng thái</a:t>
            </a:r>
            <a:endParaRPr lang="en-US" sz="4000" b="1">
              <a:latin typeface="Arial"/>
            </a:endParaRPr>
          </a:p>
        </p:txBody>
      </p:sp>
      <p:sp>
        <p:nvSpPr>
          <p:cNvPr id="2" name="Content Placeholder 1">
            <a:extLst>
              <a:ext uri="{FF2B5EF4-FFF2-40B4-BE49-F238E27FC236}">
                <a16:creationId xmlns:a16="http://schemas.microsoft.com/office/drawing/2014/main" id="{528CE521-33F3-E113-3E91-57ED3399E675}"/>
              </a:ext>
            </a:extLst>
          </p:cNvPr>
          <p:cNvSpPr>
            <a:spLocks noGrp="1"/>
          </p:cNvSpPr>
          <p:nvPr>
            <p:ph idx="1"/>
          </p:nvPr>
        </p:nvSpPr>
        <p:spPr>
          <a:xfrm>
            <a:off x="1484310" y="2666999"/>
            <a:ext cx="10018713" cy="2102217"/>
          </a:xfrm>
        </p:spPr>
        <p:txBody>
          <a:bodyPr>
            <a:normAutofit/>
          </a:bodyPr>
          <a:lstStyle/>
          <a:p>
            <a:pPr>
              <a:buNone/>
            </a:pPr>
            <a:r>
              <a:rPr lang="vi-VN" sz="2400" b="1">
                <a:solidFill>
                  <a:srgbClr val="000000"/>
                </a:solidFill>
                <a:latin typeface="Arial"/>
              </a:rPr>
              <a:t>1. Trạng thái (State)</a:t>
            </a:r>
          </a:p>
          <a:p>
            <a:pPr>
              <a:buFont typeface="Arial" panose="020B0604020202020204" pitchFamily="34" charset="0"/>
              <a:buChar char="•"/>
            </a:pPr>
            <a:r>
              <a:rPr lang="vi-VN" sz="2400">
                <a:solidFill>
                  <a:srgbClr val="000000"/>
                </a:solidFill>
                <a:latin typeface="Arial"/>
              </a:rPr>
              <a:t>Đại diện cho một giai đoạn cụ thể trong vòng đời của một đối tượng.</a:t>
            </a:r>
          </a:p>
          <a:p>
            <a:pPr>
              <a:buFont typeface="Arial" panose="020B0604020202020204" pitchFamily="34" charset="0"/>
              <a:buChar char="•"/>
            </a:pPr>
            <a:r>
              <a:rPr lang="vi-VN" sz="2400">
                <a:solidFill>
                  <a:srgbClr val="000000"/>
                </a:solidFill>
                <a:latin typeface="Arial"/>
              </a:rPr>
              <a:t>Trạng thái có thể kèm theo các hành động:</a:t>
            </a:r>
          </a:p>
        </p:txBody>
      </p:sp>
      <p:sp>
        <p:nvSpPr>
          <p:cNvPr id="3" name="Slide Number Placeholder 2">
            <a:extLst>
              <a:ext uri="{FF2B5EF4-FFF2-40B4-BE49-F238E27FC236}">
                <a16:creationId xmlns:a16="http://schemas.microsoft.com/office/drawing/2014/main" id="{4CFAC14F-F8B9-3379-62EF-7634790E547B}"/>
              </a:ext>
            </a:extLst>
          </p:cNvPr>
          <p:cNvSpPr>
            <a:spLocks noGrp="1"/>
          </p:cNvSpPr>
          <p:nvPr>
            <p:ph type="sldNum" sz="quarter" idx="12"/>
          </p:nvPr>
        </p:nvSpPr>
        <p:spPr/>
        <p:txBody>
          <a:bodyPr/>
          <a:lstStyle/>
          <a:p>
            <a:fld id="{87E7843D-FF13-4365-9478-9625B70A2705}" type="slidenum">
              <a:rPr lang="en-US" smtClean="0"/>
              <a:t>35</a:t>
            </a:fld>
            <a:endParaRPr lang="en-US"/>
          </a:p>
        </p:txBody>
      </p:sp>
    </p:spTree>
    <p:extLst>
      <p:ext uri="{BB962C8B-B14F-4D97-AF65-F5344CB8AC3E}">
        <p14:creationId xmlns:p14="http://schemas.microsoft.com/office/powerpoint/2010/main" val="3828879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E8251-C441-5B4A-5CCF-B1D053ACB7F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85A486D-2532-B3FD-34FF-5AE6098567D4}"/>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t>Thành phần cơ bản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B91D645E-43A9-FBEE-483E-8819417FBABC}"/>
              </a:ext>
            </a:extLst>
          </p:cNvPr>
          <p:cNvSpPr>
            <a:spLocks noGrp="1"/>
          </p:cNvSpPr>
          <p:nvPr>
            <p:ph type="sldNum" sz="quarter" idx="12"/>
          </p:nvPr>
        </p:nvSpPr>
        <p:spPr/>
        <p:txBody>
          <a:bodyPr/>
          <a:lstStyle/>
          <a:p>
            <a:fld id="{87E7843D-FF13-4365-9478-9625B70A2705}" type="slidenum">
              <a:rPr lang="en-US" smtClean="0"/>
              <a:t>36</a:t>
            </a:fld>
            <a:endParaRPr lang="en-US"/>
          </a:p>
        </p:txBody>
      </p:sp>
      <p:sp>
        <p:nvSpPr>
          <p:cNvPr id="6" name="Content Placeholder 5">
            <a:extLst>
              <a:ext uri="{FF2B5EF4-FFF2-40B4-BE49-F238E27FC236}">
                <a16:creationId xmlns:a16="http://schemas.microsoft.com/office/drawing/2014/main" id="{06B31621-0A5C-C8EE-7576-23CD37325F06}"/>
              </a:ext>
            </a:extLst>
          </p:cNvPr>
          <p:cNvSpPr>
            <a:spLocks noGrp="1"/>
          </p:cNvSpPr>
          <p:nvPr>
            <p:ph idx="1"/>
          </p:nvPr>
        </p:nvSpPr>
        <p:spPr/>
        <p:txBody>
          <a:bodyPr/>
          <a:lstStyle/>
          <a:p>
            <a:pPr>
              <a:buNone/>
            </a:pPr>
            <a:r>
              <a:rPr lang="vi-VN" sz="2400" b="1">
                <a:solidFill>
                  <a:srgbClr val="000000"/>
                </a:solidFill>
                <a:latin typeface="Arial"/>
              </a:rPr>
              <a:t>2. Chuyển trạng thái (Transition)</a:t>
            </a:r>
          </a:p>
          <a:p>
            <a:pPr>
              <a:buFont typeface="Arial" panose="020B0604020202020204" pitchFamily="34" charset="0"/>
              <a:buChar char="•"/>
            </a:pPr>
            <a:r>
              <a:rPr lang="vi-VN" sz="2400">
                <a:solidFill>
                  <a:srgbClr val="000000"/>
                </a:solidFill>
                <a:latin typeface="Arial"/>
              </a:rPr>
              <a:t>Mô tả sự thay đổi trạng thái của đối tượng khi có sự kiện xảy ra.</a:t>
            </a:r>
          </a:p>
          <a:p>
            <a:pPr>
              <a:buFont typeface="Arial" panose="020B0604020202020204" pitchFamily="34" charset="0"/>
              <a:buChar char="•"/>
            </a:pPr>
            <a:r>
              <a:rPr lang="vi-VN" sz="2400">
                <a:solidFill>
                  <a:srgbClr val="000000"/>
                </a:solidFill>
                <a:latin typeface="Arial"/>
              </a:rPr>
              <a:t>Một chuyển trạng thái gồm:</a:t>
            </a:r>
          </a:p>
          <a:p>
            <a:pPr marL="0" indent="0">
              <a:buNone/>
            </a:pPr>
            <a:r>
              <a:rPr lang="en-US" sz="2400">
                <a:solidFill>
                  <a:srgbClr val="000000"/>
                </a:solidFill>
                <a:latin typeface="Arial"/>
              </a:rPr>
              <a:t>- </a:t>
            </a:r>
            <a:r>
              <a:rPr lang="vi-VN" sz="2400">
                <a:solidFill>
                  <a:srgbClr val="000000"/>
                </a:solidFill>
                <a:latin typeface="Arial"/>
              </a:rPr>
              <a:t>Sự kiện kích hoạt</a:t>
            </a:r>
            <a:br>
              <a:rPr lang="vi-VN"/>
            </a:br>
            <a:r>
              <a:rPr lang="en-US">
                <a:solidFill>
                  <a:srgbClr val="000000"/>
                </a:solidFill>
                <a:latin typeface="Arial"/>
              </a:rPr>
              <a:t>-</a:t>
            </a:r>
            <a:r>
              <a:rPr lang="en-US" sz="2400">
                <a:solidFill>
                  <a:srgbClr val="000000"/>
                </a:solidFill>
                <a:latin typeface="Arial"/>
              </a:rPr>
              <a:t> </a:t>
            </a:r>
            <a:r>
              <a:rPr lang="vi-VN" sz="2400">
                <a:solidFill>
                  <a:srgbClr val="000000"/>
                </a:solidFill>
                <a:latin typeface="Arial"/>
              </a:rPr>
              <a:t>Điều kiện (Guard)</a:t>
            </a:r>
            <a:br>
              <a:rPr lang="vi-VN"/>
            </a:br>
            <a:r>
              <a:rPr lang="en-US">
                <a:solidFill>
                  <a:srgbClr val="000000"/>
                </a:solidFill>
                <a:latin typeface="Arial"/>
              </a:rPr>
              <a:t>-</a:t>
            </a:r>
            <a:r>
              <a:rPr lang="en-US" sz="2400">
                <a:solidFill>
                  <a:srgbClr val="000000"/>
                </a:solidFill>
                <a:latin typeface="Arial"/>
              </a:rPr>
              <a:t> </a:t>
            </a:r>
            <a:r>
              <a:rPr lang="vi-VN" sz="2400">
                <a:solidFill>
                  <a:srgbClr val="000000"/>
                </a:solidFill>
                <a:latin typeface="Arial"/>
              </a:rPr>
              <a:t>Hành động (Action)</a:t>
            </a:r>
            <a:endParaRPr lang="vi-VN"/>
          </a:p>
          <a:p>
            <a:endParaRPr lang="en-US"/>
          </a:p>
        </p:txBody>
      </p:sp>
    </p:spTree>
    <p:extLst>
      <p:ext uri="{BB962C8B-B14F-4D97-AF65-F5344CB8AC3E}">
        <p14:creationId xmlns:p14="http://schemas.microsoft.com/office/powerpoint/2010/main" val="3140333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FE12C-B411-3184-B02E-720C759677A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7272360-E272-0BCA-9775-031807C19C5C}"/>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t>Thành phần cơ bản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F8D7E8EC-F80D-0F7D-FB7D-9D4B502ECE7E}"/>
              </a:ext>
            </a:extLst>
          </p:cNvPr>
          <p:cNvSpPr>
            <a:spLocks noGrp="1"/>
          </p:cNvSpPr>
          <p:nvPr>
            <p:ph type="sldNum" sz="quarter" idx="12"/>
          </p:nvPr>
        </p:nvSpPr>
        <p:spPr/>
        <p:txBody>
          <a:bodyPr/>
          <a:lstStyle/>
          <a:p>
            <a:fld id="{87E7843D-FF13-4365-9478-9625B70A2705}" type="slidenum">
              <a:rPr lang="en-US" smtClean="0"/>
              <a:t>37</a:t>
            </a:fld>
            <a:endParaRPr lang="en-US"/>
          </a:p>
        </p:txBody>
      </p:sp>
      <p:sp>
        <p:nvSpPr>
          <p:cNvPr id="6" name="Content Placeholder 5">
            <a:extLst>
              <a:ext uri="{FF2B5EF4-FFF2-40B4-BE49-F238E27FC236}">
                <a16:creationId xmlns:a16="http://schemas.microsoft.com/office/drawing/2014/main" id="{236EE12F-EFB9-9471-A59B-A9A29088C3D5}"/>
              </a:ext>
            </a:extLst>
          </p:cNvPr>
          <p:cNvSpPr>
            <a:spLocks noGrp="1"/>
          </p:cNvSpPr>
          <p:nvPr>
            <p:ph idx="1"/>
          </p:nvPr>
        </p:nvSpPr>
        <p:spPr/>
        <p:txBody>
          <a:bodyPr>
            <a:normAutofit/>
          </a:bodyPr>
          <a:lstStyle/>
          <a:p>
            <a:pPr>
              <a:buNone/>
            </a:pPr>
            <a:r>
              <a:rPr lang="vi-VN" sz="2400" b="1">
                <a:solidFill>
                  <a:srgbClr val="000000"/>
                </a:solidFill>
                <a:latin typeface="Arial"/>
              </a:rPr>
              <a:t>3. Sự kiện (Events)</a:t>
            </a:r>
          </a:p>
          <a:p>
            <a:pPr>
              <a:buNone/>
            </a:pPr>
            <a:r>
              <a:rPr lang="vi-VN" sz="2400">
                <a:solidFill>
                  <a:srgbClr val="000000"/>
                </a:solidFill>
                <a:latin typeface="Arial"/>
              </a:rPr>
              <a:t>Sự kiện là yếu tố kích hoạt quá trình chuyển trạng thái, gồm:</a:t>
            </a:r>
          </a:p>
          <a:p>
            <a:pPr>
              <a:buFont typeface="Arial" panose="020B0604020202020204" pitchFamily="34" charset="0"/>
              <a:buChar char="•"/>
            </a:pPr>
            <a:r>
              <a:rPr lang="en-US" sz="2400">
                <a:solidFill>
                  <a:srgbClr val="000000"/>
                </a:solidFill>
                <a:latin typeface="Arial"/>
              </a:rPr>
              <a:t> </a:t>
            </a:r>
            <a:r>
              <a:rPr lang="vi-VN" sz="2400">
                <a:solidFill>
                  <a:srgbClr val="000000"/>
                </a:solidFill>
                <a:latin typeface="Arial"/>
              </a:rPr>
              <a:t>Gọi hàm (Call Events) – Khi một hàm được gọi đến</a:t>
            </a:r>
          </a:p>
          <a:p>
            <a:pPr>
              <a:buFont typeface="Arial" panose="020B0604020202020204" pitchFamily="34" charset="0"/>
              <a:buChar char="•"/>
            </a:pPr>
            <a:r>
              <a:rPr lang="en-US" sz="2400">
                <a:solidFill>
                  <a:srgbClr val="000000"/>
                </a:solidFill>
                <a:latin typeface="Arial"/>
              </a:rPr>
              <a:t> </a:t>
            </a:r>
            <a:r>
              <a:rPr lang="vi-VN" sz="2400">
                <a:solidFill>
                  <a:srgbClr val="000000"/>
                </a:solidFill>
                <a:latin typeface="Arial"/>
              </a:rPr>
              <a:t>Tín hiệu (Signal Events) – Gửi/nhận tín hiệu giữa các đối tượng</a:t>
            </a:r>
          </a:p>
          <a:p>
            <a:pPr>
              <a:buFont typeface="Arial" panose="020B0604020202020204" pitchFamily="34" charset="0"/>
              <a:buChar char="•"/>
            </a:pPr>
            <a:r>
              <a:rPr lang="vi-VN" sz="2400">
                <a:solidFill>
                  <a:srgbClr val="000000"/>
                </a:solidFill>
                <a:latin typeface="Arial"/>
              </a:rPr>
              <a:t> Sự kiện thời gian (Time Events) – Xảy ra sau một khoảng thời gian</a:t>
            </a:r>
          </a:p>
          <a:p>
            <a:pPr>
              <a:buFont typeface="Arial" panose="020B0604020202020204" pitchFamily="34" charset="0"/>
              <a:buChar char="•"/>
            </a:pPr>
            <a:r>
              <a:rPr lang="en-US" sz="2400">
                <a:solidFill>
                  <a:srgbClr val="000000"/>
                </a:solidFill>
                <a:latin typeface="Arial"/>
              </a:rPr>
              <a:t> </a:t>
            </a:r>
            <a:r>
              <a:rPr lang="vi-VN" sz="2400">
                <a:solidFill>
                  <a:srgbClr val="000000"/>
                </a:solidFill>
                <a:latin typeface="Arial"/>
              </a:rPr>
              <a:t>Sự kiện thay đổi (Change Events) – Khi một biểu thức trở thành đúng</a:t>
            </a:r>
          </a:p>
        </p:txBody>
      </p:sp>
    </p:spTree>
    <p:extLst>
      <p:ext uri="{BB962C8B-B14F-4D97-AF65-F5344CB8AC3E}">
        <p14:creationId xmlns:p14="http://schemas.microsoft.com/office/powerpoint/2010/main" val="762975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50C17-2EB5-3593-24B8-615A9A36CED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601C583-45CC-3E8C-D53D-1C11BB239F1D}"/>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Đặc điểm nâng cao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EBF2B1C2-D274-96C1-DE95-7B07F4C2ECC8}"/>
              </a:ext>
            </a:extLst>
          </p:cNvPr>
          <p:cNvSpPr>
            <a:spLocks noGrp="1"/>
          </p:cNvSpPr>
          <p:nvPr>
            <p:ph type="sldNum" sz="quarter" idx="12"/>
          </p:nvPr>
        </p:nvSpPr>
        <p:spPr/>
        <p:txBody>
          <a:bodyPr/>
          <a:lstStyle/>
          <a:p>
            <a:fld id="{87E7843D-FF13-4365-9478-9625B70A2705}" type="slidenum">
              <a:rPr lang="en-US" smtClean="0"/>
              <a:t>38</a:t>
            </a:fld>
            <a:endParaRPr lang="en-US"/>
          </a:p>
        </p:txBody>
      </p:sp>
      <p:sp>
        <p:nvSpPr>
          <p:cNvPr id="6" name="Content Placeholder 5">
            <a:extLst>
              <a:ext uri="{FF2B5EF4-FFF2-40B4-BE49-F238E27FC236}">
                <a16:creationId xmlns:a16="http://schemas.microsoft.com/office/drawing/2014/main" id="{8735F9B4-4D82-DC15-A16D-192F88437282}"/>
              </a:ext>
            </a:extLst>
          </p:cNvPr>
          <p:cNvSpPr>
            <a:spLocks noGrp="1"/>
          </p:cNvSpPr>
          <p:nvPr>
            <p:ph idx="1"/>
          </p:nvPr>
        </p:nvSpPr>
        <p:spPr>
          <a:xfrm>
            <a:off x="1484310" y="2666999"/>
            <a:ext cx="6252921" cy="4191001"/>
          </a:xfrm>
        </p:spPr>
        <p:txBody>
          <a:bodyPr>
            <a:normAutofit lnSpcReduction="10000"/>
          </a:bodyPr>
          <a:lstStyle/>
          <a:p>
            <a:pPr>
              <a:buNone/>
            </a:pPr>
            <a:r>
              <a:rPr lang="en-US" sz="2400">
                <a:solidFill>
                  <a:srgbClr val="000000"/>
                </a:solidFill>
                <a:latin typeface="Arial"/>
              </a:rPr>
              <a:t>1. Trạng thái tổ hợp (Composite State)</a:t>
            </a:r>
          </a:p>
          <a:p>
            <a:pPr>
              <a:buFont typeface="Arial" panose="020B0604020202020204" pitchFamily="34" charset="0"/>
              <a:buChar char="•"/>
            </a:pPr>
            <a:r>
              <a:rPr lang="en-US" sz="2400">
                <a:solidFill>
                  <a:srgbClr val="000000"/>
                </a:solidFill>
                <a:latin typeface="Arial"/>
              </a:rPr>
              <a:t>Là trạng thái bao ngoài, chứa nhiều trạng thái con.</a:t>
            </a:r>
          </a:p>
          <a:p>
            <a:pPr>
              <a:buFont typeface="Arial" panose="020B0604020202020204" pitchFamily="34" charset="0"/>
              <a:buChar char="•"/>
            </a:pPr>
            <a:r>
              <a:rPr lang="en-US" sz="2400">
                <a:solidFill>
                  <a:srgbClr val="000000"/>
                </a:solidFill>
                <a:latin typeface="Arial"/>
              </a:rPr>
              <a:t>Giúp quản lý logic phức tạp theo cấu trúc phân tầng (hierarchical).</a:t>
            </a:r>
          </a:p>
          <a:p>
            <a:pPr>
              <a:buFont typeface="Arial" panose="020B0604020202020204" pitchFamily="34" charset="0"/>
              <a:buChar char="•"/>
            </a:pPr>
            <a:r>
              <a:rPr lang="en-US" sz="2400">
                <a:solidFill>
                  <a:srgbClr val="000000"/>
                </a:solidFill>
                <a:latin typeface="Arial"/>
              </a:rPr>
              <a:t>Trạng thái con chỉ có hiệu lực khi trạng thái tổ hợp đang hoạt động.</a:t>
            </a:r>
          </a:p>
          <a:p>
            <a:pPr marL="0" indent="0">
              <a:buNone/>
            </a:pPr>
            <a:r>
              <a:rPr lang="en-US" sz="2400">
                <a:solidFill>
                  <a:srgbClr val="000000"/>
                </a:solidFill>
                <a:latin typeface="Arial"/>
              </a:rPr>
              <a:t>Ví dụ:</a:t>
            </a:r>
            <a:br>
              <a:rPr lang="en-US"/>
            </a:br>
            <a:r>
              <a:rPr lang="en-US" sz="2400">
                <a:solidFill>
                  <a:srgbClr val="000000"/>
                </a:solidFill>
                <a:latin typeface="Arial"/>
              </a:rPr>
              <a:t>Trạng thái “Đang vận hành” có thể gồm:</a:t>
            </a:r>
            <a:br>
              <a:rPr lang="en-US"/>
            </a:br>
            <a:r>
              <a:rPr lang="en-US"/>
              <a:t>	</a:t>
            </a:r>
            <a:r>
              <a:rPr lang="en-US" sz="2400">
                <a:solidFill>
                  <a:srgbClr val="000000"/>
                </a:solidFill>
                <a:latin typeface="Arial"/>
              </a:rPr>
              <a:t> Kiểm tra ➝ Xử lý ➝ Kết thúc</a:t>
            </a:r>
          </a:p>
        </p:txBody>
      </p:sp>
    </p:spTree>
    <p:extLst>
      <p:ext uri="{BB962C8B-B14F-4D97-AF65-F5344CB8AC3E}">
        <p14:creationId xmlns:p14="http://schemas.microsoft.com/office/powerpoint/2010/main" val="141373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AF690-F0AA-5179-9625-2038517A499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5BD476A-ABC2-362D-59F1-CF12B60EEF8C}"/>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Đặc điểm nâng cao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2E1D81C3-4DBF-35D0-5927-41A489D2703E}"/>
              </a:ext>
            </a:extLst>
          </p:cNvPr>
          <p:cNvSpPr>
            <a:spLocks noGrp="1"/>
          </p:cNvSpPr>
          <p:nvPr>
            <p:ph type="sldNum" sz="quarter" idx="12"/>
          </p:nvPr>
        </p:nvSpPr>
        <p:spPr/>
        <p:txBody>
          <a:bodyPr/>
          <a:lstStyle/>
          <a:p>
            <a:fld id="{87E7843D-FF13-4365-9478-9625B70A2705}" type="slidenum">
              <a:rPr lang="en-US" smtClean="0"/>
              <a:t>39</a:t>
            </a:fld>
            <a:endParaRPr lang="en-US"/>
          </a:p>
        </p:txBody>
      </p:sp>
      <p:pic>
        <p:nvPicPr>
          <p:cNvPr id="11" name="Picture 10">
            <a:extLst>
              <a:ext uri="{FF2B5EF4-FFF2-40B4-BE49-F238E27FC236}">
                <a16:creationId xmlns:a16="http://schemas.microsoft.com/office/drawing/2014/main" id="{E9B4690F-595C-A5F7-136B-C99FCC91A6C0}"/>
              </a:ext>
            </a:extLst>
          </p:cNvPr>
          <p:cNvPicPr>
            <a:picLocks noChangeAspect="1"/>
          </p:cNvPicPr>
          <p:nvPr/>
        </p:nvPicPr>
        <p:blipFill>
          <a:blip r:embed="rId2"/>
          <a:stretch>
            <a:fillRect/>
          </a:stretch>
        </p:blipFill>
        <p:spPr>
          <a:xfrm>
            <a:off x="6096000" y="2590800"/>
            <a:ext cx="6096000" cy="4315556"/>
          </a:xfrm>
          <a:prstGeom prst="rect">
            <a:avLst/>
          </a:prstGeom>
        </p:spPr>
      </p:pic>
      <p:sp>
        <p:nvSpPr>
          <p:cNvPr id="12" name="Content Placeholder 11">
            <a:extLst>
              <a:ext uri="{FF2B5EF4-FFF2-40B4-BE49-F238E27FC236}">
                <a16:creationId xmlns:a16="http://schemas.microsoft.com/office/drawing/2014/main" id="{6AA2045B-A8F2-4225-DE8A-2E8B87E46F4D}"/>
              </a:ext>
            </a:extLst>
          </p:cNvPr>
          <p:cNvSpPr>
            <a:spLocks noGrp="1"/>
          </p:cNvSpPr>
          <p:nvPr>
            <p:ph idx="1"/>
          </p:nvPr>
        </p:nvSpPr>
        <p:spPr>
          <a:xfrm>
            <a:off x="1230923" y="2590799"/>
            <a:ext cx="4865077" cy="426720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Composite State "Bật" chứa các trạng thái con "Chờ" và "Xử lý"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Khi vào trạng thái "Bật", hệ thống tự động vào trạng thái con mặc định là "Chờ"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Trong trạng thái "Chờ", khi "nhận dữ liệu", hệ thống chuyển sang trạng thái "Xử lý"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Sau khi "hoàn thành", hệ thống quay lại trạng thái "Chờ"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Từ bất kỳ trạng thái con nào trong "Bật", nếu "bấm nút", hệ thống sẽ chuyển sang trạng thái "Tắt" </a:t>
            </a:r>
          </a:p>
          <a:p>
            <a:endParaRPr lang="en-US" sz="1800"/>
          </a:p>
        </p:txBody>
      </p:sp>
    </p:spTree>
    <p:extLst>
      <p:ext uri="{BB962C8B-B14F-4D97-AF65-F5344CB8AC3E}">
        <p14:creationId xmlns:p14="http://schemas.microsoft.com/office/powerpoint/2010/main" val="4275814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30C2-795D-BD48-D050-94CD4038E59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0EBBF8D-DAB4-C4F1-62A7-0A7C250D8358}"/>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Đặc điểm nâng cao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91285067-5D4C-AD6C-34CA-22186C09826D}"/>
              </a:ext>
            </a:extLst>
          </p:cNvPr>
          <p:cNvSpPr>
            <a:spLocks noGrp="1"/>
          </p:cNvSpPr>
          <p:nvPr>
            <p:ph type="sldNum" sz="quarter" idx="12"/>
          </p:nvPr>
        </p:nvSpPr>
        <p:spPr/>
        <p:txBody>
          <a:bodyPr/>
          <a:lstStyle/>
          <a:p>
            <a:fld id="{87E7843D-FF13-4365-9478-9625B70A2705}" type="slidenum">
              <a:rPr lang="en-US" smtClean="0"/>
              <a:t>40</a:t>
            </a:fld>
            <a:endParaRPr lang="en-US"/>
          </a:p>
        </p:txBody>
      </p:sp>
      <p:sp>
        <p:nvSpPr>
          <p:cNvPr id="9" name="Content Placeholder 8">
            <a:extLst>
              <a:ext uri="{FF2B5EF4-FFF2-40B4-BE49-F238E27FC236}">
                <a16:creationId xmlns:a16="http://schemas.microsoft.com/office/drawing/2014/main" id="{0B9EF4B1-D162-9204-8147-932220D49923}"/>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u="none" strike="noStrike" cap="none" normalizeH="0" baseline="0">
                <a:ln>
                  <a:noFill/>
                </a:ln>
                <a:solidFill>
                  <a:srgbClr val="000000"/>
                </a:solidFill>
                <a:effectLst/>
                <a:latin typeface="Arial" panose="020B0604020202020204" pitchFamily="34" charset="0"/>
              </a:rPr>
              <a:t>2. Ghi nhớ lịch sử (History States)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u="none" strike="noStrike" cap="none" normalizeH="0" baseline="0">
                <a:ln>
                  <a:noFill/>
                </a:ln>
                <a:solidFill>
                  <a:srgbClr val="000000"/>
                </a:solidFill>
                <a:effectLst/>
                <a:latin typeface="Arial" panose="020B0604020202020204" pitchFamily="34" charset="0"/>
              </a:rPr>
              <a:t>Giúp quay lại trạng thái con gần nhất khi quay lại trạng thái tổ hợp.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u="none" strike="noStrike" cap="none" normalizeH="0" baseline="0">
                <a:ln>
                  <a:noFill/>
                </a:ln>
                <a:solidFill>
                  <a:srgbClr val="000000"/>
                </a:solidFill>
                <a:effectLst/>
                <a:latin typeface="Arial"/>
              </a:rPr>
              <a:t>H (History):</a:t>
            </a:r>
            <a:br>
              <a:rPr kumimoji="0" lang="en-US" altLang="en-US" sz="900" b="0" i="0" u="none" strike="noStrike" cap="none" normalizeH="0" baseline="0">
                <a:ln>
                  <a:noFill/>
                </a:ln>
                <a:solidFill>
                  <a:schemeClr val="tx1"/>
                </a:solidFill>
                <a:effectLst/>
              </a:rPr>
            </a:br>
            <a:r>
              <a:rPr kumimoji="0" lang="en-US" altLang="en-US" sz="2400" u="none" strike="noStrike" cap="none" normalizeH="0" baseline="0">
                <a:ln>
                  <a:noFill/>
                </a:ln>
                <a:solidFill>
                  <a:srgbClr val="000000"/>
                </a:solidFill>
                <a:effectLst/>
                <a:latin typeface="Arial"/>
              </a:rPr>
              <a:t>Ghi nhớ </a:t>
            </a:r>
            <a:r>
              <a:rPr kumimoji="0" lang="en-US" altLang="en-US" sz="2400" u="none" strike="noStrike" cap="none" normalizeH="0" baseline="0">
                <a:ln>
                  <a:noFill/>
                </a:ln>
                <a:solidFill>
                  <a:srgbClr val="000000"/>
                </a:solidFill>
                <a:effectLst/>
                <a:latin typeface="Arial" panose="020B0604020202020204" pitchFamily="34" charset="0"/>
              </a:rPr>
              <a:t>trạng thái con cuối cùng trước khi thoát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u="none" strike="noStrike" cap="none" normalizeH="0" baseline="0">
                <a:ln>
                  <a:noFill/>
                </a:ln>
                <a:solidFill>
                  <a:srgbClr val="000000"/>
                </a:solidFill>
                <a:effectLst/>
                <a:latin typeface="Arial"/>
              </a:rPr>
              <a:t>H* (Deep History):</a:t>
            </a:r>
            <a:br>
              <a:rPr kumimoji="0" lang="en-US" altLang="en-US" sz="900" b="0" i="0" u="none" strike="noStrike" cap="none" normalizeH="0" baseline="0">
                <a:ln>
                  <a:noFill/>
                </a:ln>
                <a:solidFill>
                  <a:schemeClr val="tx1"/>
                </a:solidFill>
                <a:effectLst/>
              </a:rPr>
            </a:br>
            <a:r>
              <a:rPr kumimoji="0" lang="en-US" altLang="en-US" sz="2400" u="none" strike="noStrike" cap="none" normalizeH="0" baseline="0">
                <a:ln>
                  <a:noFill/>
                </a:ln>
                <a:solidFill>
                  <a:srgbClr val="000000"/>
                </a:solidFill>
                <a:effectLst/>
                <a:latin typeface="Arial"/>
              </a:rPr>
              <a:t> Ghi nhớ </a:t>
            </a:r>
            <a:r>
              <a:rPr kumimoji="0" lang="en-US" altLang="en-US" sz="2400" u="none" strike="noStrike" cap="none" normalizeH="0" baseline="0">
                <a:ln>
                  <a:noFill/>
                </a:ln>
                <a:solidFill>
                  <a:srgbClr val="000000"/>
                </a:solidFill>
                <a:effectLst/>
                <a:latin typeface="Arial" panose="020B0604020202020204" pitchFamily="34" charset="0"/>
              </a:rPr>
              <a:t>toàn bộ phân cấp trạng thái con trước đó</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u="none" strike="noStrike" cap="none" normalizeH="0" baseline="0">
                <a:ln>
                  <a:noFill/>
                </a:ln>
                <a:solidFill>
                  <a:srgbClr val="000000"/>
                </a:solidFill>
                <a:effectLst/>
                <a:latin typeface="Arial" panose="020B0604020202020204" pitchFamily="34" charset="0"/>
              </a:rPr>
              <a:t> Hữu ích khi muốn “tiếp tục từ chỗ đã dừng”</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729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C52C1-A69F-F292-6BBB-592ED1D8894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9004390-2351-5FA2-4DBD-65C3D73366E0}"/>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Đặc điểm nâng cao của Biểu đồ Trạng thái</a:t>
            </a:r>
            <a:endParaRPr lang="en-US" sz="4000" b="1">
              <a:latin typeface="Arial"/>
            </a:endParaRPr>
          </a:p>
        </p:txBody>
      </p:sp>
      <p:sp>
        <p:nvSpPr>
          <p:cNvPr id="3" name="Slide Number Placeholder 2">
            <a:extLst>
              <a:ext uri="{FF2B5EF4-FFF2-40B4-BE49-F238E27FC236}">
                <a16:creationId xmlns:a16="http://schemas.microsoft.com/office/drawing/2014/main" id="{39782897-8211-D8FC-2254-B758C904D980}"/>
              </a:ext>
            </a:extLst>
          </p:cNvPr>
          <p:cNvSpPr>
            <a:spLocks noGrp="1"/>
          </p:cNvSpPr>
          <p:nvPr>
            <p:ph type="sldNum" sz="quarter" idx="12"/>
          </p:nvPr>
        </p:nvSpPr>
        <p:spPr/>
        <p:txBody>
          <a:bodyPr/>
          <a:lstStyle/>
          <a:p>
            <a:fld id="{87E7843D-FF13-4365-9478-9625B70A2705}" type="slidenum">
              <a:rPr lang="en-US" smtClean="0"/>
              <a:t>41</a:t>
            </a:fld>
            <a:endParaRPr lang="en-US"/>
          </a:p>
        </p:txBody>
      </p:sp>
      <p:sp>
        <p:nvSpPr>
          <p:cNvPr id="2" name="Content Placeholder 1">
            <a:extLst>
              <a:ext uri="{FF2B5EF4-FFF2-40B4-BE49-F238E27FC236}">
                <a16:creationId xmlns:a16="http://schemas.microsoft.com/office/drawing/2014/main" id="{F24732B5-B8C0-F782-91FA-A6E223C54862}"/>
              </a:ext>
            </a:extLst>
          </p:cNvPr>
          <p:cNvSpPr>
            <a:spLocks noGrp="1"/>
          </p:cNvSpPr>
          <p:nvPr>
            <p:ph idx="1"/>
          </p:nvPr>
        </p:nvSpPr>
        <p:spPr>
          <a:xfrm>
            <a:off x="1484311" y="2590799"/>
            <a:ext cx="5953982" cy="4267201"/>
          </a:xfrm>
        </p:spPr>
        <p:txBody>
          <a:bodyPr>
            <a:normAutofit/>
          </a:bodyPr>
          <a:lstStyle/>
          <a:p>
            <a:pPr>
              <a:buNone/>
            </a:pPr>
            <a:r>
              <a:rPr lang="en-US" sz="2400">
                <a:solidFill>
                  <a:srgbClr val="000000"/>
                </a:solidFill>
                <a:latin typeface="Arial"/>
              </a:rPr>
              <a:t>3. Chuyển tiếp hoàn tất (Completion Transition)</a:t>
            </a:r>
          </a:p>
          <a:p>
            <a:pPr>
              <a:buFont typeface="Arial" panose="020B0604020202020204" pitchFamily="34" charset="0"/>
              <a:buChar char="•"/>
            </a:pPr>
            <a:r>
              <a:rPr lang="en-US" sz="2400">
                <a:solidFill>
                  <a:srgbClr val="000000"/>
                </a:solidFill>
                <a:latin typeface="Arial"/>
              </a:rPr>
              <a:t>Là chuyển trạng thái tự động, xảy ra ngay sau khi trạng thái con hoàn tất.</a:t>
            </a:r>
          </a:p>
          <a:p>
            <a:pPr>
              <a:buFont typeface="Arial" panose="020B0604020202020204" pitchFamily="34" charset="0"/>
              <a:buChar char="•"/>
            </a:pPr>
            <a:r>
              <a:rPr lang="en-US" sz="2400">
                <a:solidFill>
                  <a:srgbClr val="000000"/>
                </a:solidFill>
                <a:latin typeface="Arial"/>
              </a:rPr>
              <a:t>Không cần sự kiện kích hoạt – tự diễn ra khi hoàn thành logic bên trong.</a:t>
            </a:r>
          </a:p>
          <a:p>
            <a:r>
              <a:rPr lang="en-US" sz="2400">
                <a:solidFill>
                  <a:srgbClr val="000000"/>
                </a:solidFill>
                <a:latin typeface="Arial"/>
              </a:rPr>
              <a:t>Ví dụ:</a:t>
            </a:r>
            <a:br>
              <a:rPr lang="en-US"/>
            </a:br>
            <a:r>
              <a:rPr lang="en-US" sz="2400">
                <a:solidFill>
                  <a:srgbClr val="000000"/>
                </a:solidFill>
                <a:latin typeface="Arial"/>
              </a:rPr>
              <a:t>Khi trạng thái "Xử lý" kết thúc, hệ thống tự chuyển sang "Kết thúc".</a:t>
            </a:r>
          </a:p>
          <a:p>
            <a:endParaRPr lang="en-US"/>
          </a:p>
        </p:txBody>
      </p:sp>
      <p:pic>
        <p:nvPicPr>
          <p:cNvPr id="5" name="Picture 4">
            <a:extLst>
              <a:ext uri="{FF2B5EF4-FFF2-40B4-BE49-F238E27FC236}">
                <a16:creationId xmlns:a16="http://schemas.microsoft.com/office/drawing/2014/main" id="{DCD27183-9F23-45A0-AD16-0F3418046A82}"/>
              </a:ext>
            </a:extLst>
          </p:cNvPr>
          <p:cNvPicPr>
            <a:picLocks noChangeAspect="1"/>
          </p:cNvPicPr>
          <p:nvPr/>
        </p:nvPicPr>
        <p:blipFill>
          <a:blip r:embed="rId2"/>
          <a:stretch>
            <a:fillRect/>
          </a:stretch>
        </p:blipFill>
        <p:spPr>
          <a:xfrm>
            <a:off x="7438293" y="2590799"/>
            <a:ext cx="4753706" cy="4267201"/>
          </a:xfrm>
          <a:prstGeom prst="rect">
            <a:avLst/>
          </a:prstGeom>
        </p:spPr>
      </p:pic>
    </p:spTree>
    <p:extLst>
      <p:ext uri="{BB962C8B-B14F-4D97-AF65-F5344CB8AC3E}">
        <p14:creationId xmlns:p14="http://schemas.microsoft.com/office/powerpoint/2010/main" val="3172630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7861-D49C-188D-3CD4-42131A4F48F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149F4D0-0F40-3C0D-5121-081AADD06F10}"/>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t>Tóm tắt về Biểu đồ Trạng thái</a:t>
            </a:r>
          </a:p>
        </p:txBody>
      </p:sp>
      <p:sp>
        <p:nvSpPr>
          <p:cNvPr id="3" name="Slide Number Placeholder 2">
            <a:extLst>
              <a:ext uri="{FF2B5EF4-FFF2-40B4-BE49-F238E27FC236}">
                <a16:creationId xmlns:a16="http://schemas.microsoft.com/office/drawing/2014/main" id="{021D3394-022D-9DEA-B725-865A1D206980}"/>
              </a:ext>
            </a:extLst>
          </p:cNvPr>
          <p:cNvSpPr>
            <a:spLocks noGrp="1"/>
          </p:cNvSpPr>
          <p:nvPr>
            <p:ph type="sldNum" sz="quarter" idx="12"/>
          </p:nvPr>
        </p:nvSpPr>
        <p:spPr/>
        <p:txBody>
          <a:bodyPr/>
          <a:lstStyle/>
          <a:p>
            <a:fld id="{87E7843D-FF13-4365-9478-9625B70A2705}" type="slidenum">
              <a:rPr lang="en-US" smtClean="0"/>
              <a:t>42</a:t>
            </a:fld>
            <a:endParaRPr lang="en-US"/>
          </a:p>
        </p:txBody>
      </p:sp>
      <p:sp>
        <p:nvSpPr>
          <p:cNvPr id="5" name="Content Placeholder 4">
            <a:extLst>
              <a:ext uri="{FF2B5EF4-FFF2-40B4-BE49-F238E27FC236}">
                <a16:creationId xmlns:a16="http://schemas.microsoft.com/office/drawing/2014/main" id="{3C944501-E09F-F0DC-E555-52CC7F8175CD}"/>
              </a:ext>
            </a:extLst>
          </p:cNvPr>
          <p:cNvSpPr>
            <a:spLocks noGrp="1"/>
          </p:cNvSpPr>
          <p:nvPr>
            <p:ph idx="1"/>
          </p:nvPr>
        </p:nvSpPr>
        <p:spPr/>
        <p:txBody>
          <a:bodyPr/>
          <a:lstStyle/>
          <a:p>
            <a:pPr>
              <a:buFont typeface="Arial" panose="020B0604020202020204" pitchFamily="34" charset="0"/>
              <a:buChar char="•"/>
            </a:pPr>
            <a:r>
              <a:rPr lang="vi-VN" sz="2400">
                <a:solidFill>
                  <a:srgbClr val="000000"/>
                </a:solidFill>
                <a:latin typeface="Arial"/>
              </a:rPr>
              <a:t>Giúp mô hình hóa hành vi phức tạp của hệ thống theo các trạng thái và sự kiện chuyển trạng thái.</a:t>
            </a:r>
          </a:p>
          <a:p>
            <a:pPr>
              <a:buFont typeface="Arial" panose="020B0604020202020204" pitchFamily="34" charset="0"/>
              <a:buChar char="•"/>
            </a:pPr>
            <a:r>
              <a:rPr lang="vi-VN" sz="2400">
                <a:solidFill>
                  <a:srgbClr val="000000"/>
                </a:solidFill>
                <a:latin typeface="Arial"/>
              </a:rPr>
              <a:t>Thích hợp để mô tả vòng đời của đối tượng hoặc quá trình trong hệ thống.</a:t>
            </a:r>
          </a:p>
        </p:txBody>
      </p:sp>
    </p:spTree>
    <p:extLst>
      <p:ext uri="{BB962C8B-B14F-4D97-AF65-F5344CB8AC3E}">
        <p14:creationId xmlns:p14="http://schemas.microsoft.com/office/powerpoint/2010/main" val="3677112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4524A-91F6-E582-6B5A-184B9E8CDF7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97C7AE7-FF32-12C7-1FE8-DAAC0D2348BB}"/>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Cần kết hợp với các biểu đồ khác</a:t>
            </a:r>
            <a:endParaRPr lang="en-US" b="1"/>
          </a:p>
        </p:txBody>
      </p:sp>
      <p:sp>
        <p:nvSpPr>
          <p:cNvPr id="3" name="Slide Number Placeholder 2">
            <a:extLst>
              <a:ext uri="{FF2B5EF4-FFF2-40B4-BE49-F238E27FC236}">
                <a16:creationId xmlns:a16="http://schemas.microsoft.com/office/drawing/2014/main" id="{4FFBF763-6CB3-1725-29FC-C3BE4C4AE389}"/>
              </a:ext>
            </a:extLst>
          </p:cNvPr>
          <p:cNvSpPr>
            <a:spLocks noGrp="1"/>
          </p:cNvSpPr>
          <p:nvPr>
            <p:ph type="sldNum" sz="quarter" idx="12"/>
          </p:nvPr>
        </p:nvSpPr>
        <p:spPr/>
        <p:txBody>
          <a:bodyPr/>
          <a:lstStyle/>
          <a:p>
            <a:fld id="{87E7843D-FF13-4365-9478-9625B70A2705}" type="slidenum">
              <a:rPr lang="en-US" smtClean="0"/>
              <a:t>43</a:t>
            </a:fld>
            <a:endParaRPr lang="en-US"/>
          </a:p>
        </p:txBody>
      </p:sp>
      <p:sp>
        <p:nvSpPr>
          <p:cNvPr id="5" name="Content Placeholder 4">
            <a:extLst>
              <a:ext uri="{FF2B5EF4-FFF2-40B4-BE49-F238E27FC236}">
                <a16:creationId xmlns:a16="http://schemas.microsoft.com/office/drawing/2014/main" id="{FB853C11-BC2B-32EB-E037-F749A43D350D}"/>
              </a:ext>
            </a:extLst>
          </p:cNvPr>
          <p:cNvSpPr>
            <a:spLocks noGrp="1"/>
          </p:cNvSpPr>
          <p:nvPr>
            <p:ph idx="1"/>
          </p:nvPr>
        </p:nvSpPr>
        <p:spPr/>
        <p:txBody>
          <a:bodyPr/>
          <a:lstStyle/>
          <a:p>
            <a:pPr>
              <a:buFont typeface="Arial" panose="020B0604020202020204" pitchFamily="34" charset="0"/>
              <a:buChar char="•"/>
            </a:pPr>
            <a:r>
              <a:rPr lang="vi-VN" sz="2400" b="1">
                <a:solidFill>
                  <a:srgbClr val="000000"/>
                </a:solidFill>
                <a:latin typeface="Arial"/>
              </a:rPr>
              <a:t>Use Case Diagram</a:t>
            </a:r>
            <a:r>
              <a:rPr lang="vi-VN" sz="2400">
                <a:solidFill>
                  <a:srgbClr val="000000"/>
                </a:solidFill>
                <a:latin typeface="Arial"/>
              </a:rPr>
              <a:t>: Mô tả các tác nhân và tương tác với hệ thống.</a:t>
            </a:r>
          </a:p>
          <a:p>
            <a:pPr>
              <a:buFont typeface="Arial" panose="020B0604020202020204" pitchFamily="34" charset="0"/>
              <a:buChar char="•"/>
            </a:pPr>
            <a:r>
              <a:rPr lang="vi-VN" sz="2400" b="1">
                <a:solidFill>
                  <a:srgbClr val="000000"/>
                </a:solidFill>
                <a:latin typeface="Arial"/>
              </a:rPr>
              <a:t>Sequence Diagram</a:t>
            </a:r>
            <a:r>
              <a:rPr lang="vi-VN" sz="2400">
                <a:solidFill>
                  <a:srgbClr val="000000"/>
                </a:solidFill>
                <a:latin typeface="Arial"/>
              </a:rPr>
              <a:t>: Mô tả luồng tương tác giữa các đối tượng theo thời gian.</a:t>
            </a:r>
          </a:p>
          <a:p>
            <a:pPr>
              <a:buFont typeface="Arial" panose="020B0604020202020204" pitchFamily="34" charset="0"/>
              <a:buChar char="•"/>
            </a:pPr>
            <a:r>
              <a:rPr lang="vi-VN" sz="2400">
                <a:solidFill>
                  <a:srgbClr val="000000"/>
                </a:solidFill>
                <a:latin typeface="Arial"/>
              </a:rPr>
              <a:t>Statechart bổ sung hành vi chi tiết và chuyển trạng thái của đối tượng trong quá trình xử lý.</a:t>
            </a:r>
          </a:p>
        </p:txBody>
      </p:sp>
    </p:spTree>
    <p:extLst>
      <p:ext uri="{BB962C8B-B14F-4D97-AF65-F5344CB8AC3E}">
        <p14:creationId xmlns:p14="http://schemas.microsoft.com/office/powerpoint/2010/main" val="3905129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C4054-8ED4-DC6C-D077-3A25F26EA8E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589BA63-E3C8-FE08-C7AD-6836DFA714A5}"/>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Cần kết hợp với các biểu đồ khác</a:t>
            </a:r>
            <a:endParaRPr lang="en-US" b="1"/>
          </a:p>
        </p:txBody>
      </p:sp>
      <p:sp>
        <p:nvSpPr>
          <p:cNvPr id="3" name="Slide Number Placeholder 2">
            <a:extLst>
              <a:ext uri="{FF2B5EF4-FFF2-40B4-BE49-F238E27FC236}">
                <a16:creationId xmlns:a16="http://schemas.microsoft.com/office/drawing/2014/main" id="{96E11899-15E4-A931-8505-31E193C32F77}"/>
              </a:ext>
            </a:extLst>
          </p:cNvPr>
          <p:cNvSpPr>
            <a:spLocks noGrp="1"/>
          </p:cNvSpPr>
          <p:nvPr>
            <p:ph type="sldNum" sz="quarter" idx="12"/>
          </p:nvPr>
        </p:nvSpPr>
        <p:spPr/>
        <p:txBody>
          <a:bodyPr/>
          <a:lstStyle/>
          <a:p>
            <a:fld id="{87E7843D-FF13-4365-9478-9625B70A2705}" type="slidenum">
              <a:rPr lang="en-US" smtClean="0"/>
              <a:t>44</a:t>
            </a:fld>
            <a:endParaRPr lang="en-US"/>
          </a:p>
        </p:txBody>
      </p:sp>
      <p:sp>
        <p:nvSpPr>
          <p:cNvPr id="5" name="Content Placeholder 4">
            <a:extLst>
              <a:ext uri="{FF2B5EF4-FFF2-40B4-BE49-F238E27FC236}">
                <a16:creationId xmlns:a16="http://schemas.microsoft.com/office/drawing/2014/main" id="{4C329A35-239A-2C00-95F3-04B21EF50133}"/>
              </a:ext>
            </a:extLst>
          </p:cNvPr>
          <p:cNvSpPr>
            <a:spLocks noGrp="1"/>
          </p:cNvSpPr>
          <p:nvPr>
            <p:ph idx="1"/>
          </p:nvPr>
        </p:nvSpPr>
        <p:spPr/>
        <p:txBody>
          <a:bodyPr/>
          <a:lstStyle/>
          <a:p>
            <a:pPr>
              <a:buFont typeface="Arial" panose="020B0604020202020204" pitchFamily="34" charset="0"/>
              <a:buChar char="•"/>
            </a:pPr>
            <a:r>
              <a:rPr lang="vi-VN" sz="2400">
                <a:solidFill>
                  <a:srgbClr val="000000"/>
                </a:solidFill>
                <a:latin typeface="Arial"/>
              </a:rPr>
              <a:t>Giúp quản lý hành vi phức tạp của hệ thống.</a:t>
            </a:r>
          </a:p>
          <a:p>
            <a:pPr>
              <a:buFont typeface="Arial" panose="020B0604020202020204" pitchFamily="34" charset="0"/>
              <a:buChar char="•"/>
            </a:pPr>
            <a:r>
              <a:rPr lang="vi-VN" sz="2400">
                <a:solidFill>
                  <a:srgbClr val="000000"/>
                </a:solidFill>
                <a:latin typeface="Arial"/>
              </a:rPr>
              <a:t>Dễ dàng nhận diện các trạng thái quan trọng và quá trình chuyển đổi.</a:t>
            </a:r>
          </a:p>
          <a:p>
            <a:pPr>
              <a:buFont typeface="Arial" panose="020B0604020202020204" pitchFamily="34" charset="0"/>
              <a:buChar char="•"/>
            </a:pPr>
            <a:r>
              <a:rPr lang="vi-VN" sz="2400">
                <a:solidFill>
                  <a:srgbClr val="000000"/>
                </a:solidFill>
                <a:latin typeface="Arial"/>
              </a:rPr>
              <a:t>Tăng cường khả năng bảo trì và mở rộng hệ thống.</a:t>
            </a:r>
          </a:p>
        </p:txBody>
      </p:sp>
    </p:spTree>
    <p:extLst>
      <p:ext uri="{BB962C8B-B14F-4D97-AF65-F5344CB8AC3E}">
        <p14:creationId xmlns:p14="http://schemas.microsoft.com/office/powerpoint/2010/main" val="1132713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CE73-507F-8063-314C-3A86492F4BA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EA8792C-6239-2E1B-53EF-E806F4DB32BF}"/>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2" name="Content Placeholder 1">
            <a:extLst>
              <a:ext uri="{FF2B5EF4-FFF2-40B4-BE49-F238E27FC236}">
                <a16:creationId xmlns:a16="http://schemas.microsoft.com/office/drawing/2014/main" id="{6C2DB4BF-37C4-4DC3-2337-841E89F5A66D}"/>
              </a:ext>
            </a:extLst>
          </p:cNvPr>
          <p:cNvSpPr>
            <a:spLocks noGrp="1"/>
          </p:cNvSpPr>
          <p:nvPr>
            <p:ph idx="1"/>
          </p:nvPr>
        </p:nvSpPr>
        <p:spPr/>
        <p:txBody>
          <a:bodyPr>
            <a:normAutofit/>
          </a:bodyPr>
          <a:lstStyle/>
          <a:p>
            <a:pPr>
              <a:buFont typeface="Arial" panose="020B0604020202020204" pitchFamily="34" charset="0"/>
              <a:buChar char="•"/>
            </a:pPr>
            <a:r>
              <a:rPr lang="vi-VN" sz="2400" b="0">
                <a:latin typeface="Arial"/>
              </a:rPr>
              <a:t>Biểu diễn cấu trúc của hệ thống theo mô hình hướng đối tượng.</a:t>
            </a:r>
          </a:p>
          <a:p>
            <a:pPr>
              <a:buFont typeface="Arial" panose="020B0604020202020204" pitchFamily="34" charset="0"/>
              <a:buChar char="•"/>
            </a:pPr>
            <a:r>
              <a:rPr lang="vi-VN" sz="2400" b="0">
                <a:latin typeface="Arial"/>
              </a:rPr>
              <a:t>Thể hiện các lớp, thuộc tính, phương thức và mối quan hệ giữa các lớp.</a:t>
            </a:r>
          </a:p>
          <a:p>
            <a:pPr>
              <a:buFont typeface="Arial" panose="020B0604020202020204" pitchFamily="34" charset="0"/>
              <a:buChar char="•"/>
            </a:pPr>
            <a:r>
              <a:rPr lang="vi-VN" sz="2400" b="0">
                <a:latin typeface="Arial"/>
              </a:rPr>
              <a:t>Ứng dụng: Thiết kế kiến trúc phần mềm, mô hình hóa dữ liệu.</a:t>
            </a:r>
          </a:p>
        </p:txBody>
      </p:sp>
      <p:sp>
        <p:nvSpPr>
          <p:cNvPr id="3" name="Slide Number Placeholder 2">
            <a:extLst>
              <a:ext uri="{FF2B5EF4-FFF2-40B4-BE49-F238E27FC236}">
                <a16:creationId xmlns:a16="http://schemas.microsoft.com/office/drawing/2014/main" id="{AB251EE5-662A-5A44-F8BA-3BDE48CBEE77}"/>
              </a:ext>
            </a:extLst>
          </p:cNvPr>
          <p:cNvSpPr>
            <a:spLocks noGrp="1"/>
          </p:cNvSpPr>
          <p:nvPr>
            <p:ph type="sldNum" sz="quarter" idx="12"/>
          </p:nvPr>
        </p:nvSpPr>
        <p:spPr/>
        <p:txBody>
          <a:bodyPr/>
          <a:lstStyle/>
          <a:p>
            <a:fld id="{87E7843D-FF13-4365-9478-9625B70A2705}" type="slidenum">
              <a:rPr lang="en-US" smtClean="0"/>
              <a:t>45</a:t>
            </a:fld>
            <a:endParaRPr lang="en-US"/>
          </a:p>
        </p:txBody>
      </p:sp>
    </p:spTree>
    <p:extLst>
      <p:ext uri="{BB962C8B-B14F-4D97-AF65-F5344CB8AC3E}">
        <p14:creationId xmlns:p14="http://schemas.microsoft.com/office/powerpoint/2010/main" val="38330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8940-F31F-9A82-1E8A-864C16BDC32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FE0F4EE-3D5F-9175-2D35-B3BB3387E8F7}"/>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3" name="Slide Number Placeholder 2">
            <a:extLst>
              <a:ext uri="{FF2B5EF4-FFF2-40B4-BE49-F238E27FC236}">
                <a16:creationId xmlns:a16="http://schemas.microsoft.com/office/drawing/2014/main" id="{2D46C7D1-B156-A251-3641-2F41A66A4116}"/>
              </a:ext>
            </a:extLst>
          </p:cNvPr>
          <p:cNvSpPr>
            <a:spLocks noGrp="1"/>
          </p:cNvSpPr>
          <p:nvPr>
            <p:ph type="sldNum" sz="quarter" idx="12"/>
          </p:nvPr>
        </p:nvSpPr>
        <p:spPr/>
        <p:txBody>
          <a:bodyPr/>
          <a:lstStyle/>
          <a:p>
            <a:fld id="{87E7843D-FF13-4365-9478-9625B70A2705}" type="slidenum">
              <a:rPr lang="en-US" smtClean="0"/>
              <a:t>46</a:t>
            </a:fld>
            <a:endParaRPr lang="en-US"/>
          </a:p>
        </p:txBody>
      </p:sp>
      <p:pic>
        <p:nvPicPr>
          <p:cNvPr id="10" name="Picture 9">
            <a:extLst>
              <a:ext uri="{FF2B5EF4-FFF2-40B4-BE49-F238E27FC236}">
                <a16:creationId xmlns:a16="http://schemas.microsoft.com/office/drawing/2014/main" id="{6B251308-BBA3-631A-46D0-E9C41D3507FE}"/>
              </a:ext>
            </a:extLst>
          </p:cNvPr>
          <p:cNvPicPr>
            <a:picLocks noChangeAspect="1"/>
          </p:cNvPicPr>
          <p:nvPr/>
        </p:nvPicPr>
        <p:blipFill>
          <a:blip r:embed="rId2"/>
          <a:stretch>
            <a:fillRect/>
          </a:stretch>
        </p:blipFill>
        <p:spPr>
          <a:xfrm>
            <a:off x="8563967" y="2720713"/>
            <a:ext cx="3522525" cy="3328980"/>
          </a:xfrm>
          <a:prstGeom prst="rect">
            <a:avLst/>
          </a:prstGeom>
        </p:spPr>
      </p:pic>
      <p:sp>
        <p:nvSpPr>
          <p:cNvPr id="11" name="Content Placeholder 10">
            <a:extLst>
              <a:ext uri="{FF2B5EF4-FFF2-40B4-BE49-F238E27FC236}">
                <a16:creationId xmlns:a16="http://schemas.microsoft.com/office/drawing/2014/main" id="{C62FE715-D087-839A-FA6A-5502DAD4E51F}"/>
              </a:ext>
            </a:extLst>
          </p:cNvPr>
          <p:cNvSpPr>
            <a:spLocks noGrp="1"/>
          </p:cNvSpPr>
          <p:nvPr>
            <p:ph idx="1"/>
          </p:nvPr>
        </p:nvSpPr>
        <p:spPr>
          <a:xfrm>
            <a:off x="1484311" y="2720713"/>
            <a:ext cx="6648574" cy="327526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Biểu diễn bằng hình chữ nhật, gồm 3 phần: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Tên lớp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Thuộc tính (Attribute): </a:t>
            </a:r>
            <a:r>
              <a:rPr kumimoji="0" lang="en-US" altLang="en-US" sz="2400" b="0" i="0" u="none" strike="noStrike" cap="none" normalizeH="0" baseline="0">
                <a:ln>
                  <a:noFill/>
                </a:ln>
                <a:solidFill>
                  <a:schemeClr val="tx1"/>
                </a:solidFill>
                <a:effectLst/>
                <a:latin typeface="Arial"/>
              </a:rPr>
              <a:t>attribute: type</a:t>
            </a:r>
            <a:endParaRPr kumimoji="0" lang="en-US" altLang="en-US" sz="200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Phương thức/Hoạt động (Operation): </a:t>
            </a:r>
            <a:r>
              <a:rPr kumimoji="0" lang="en-US" altLang="en-US" sz="2400" b="0" i="0" u="none" strike="noStrike" cap="none" normalizeH="0" baseline="0">
                <a:ln>
                  <a:noFill/>
                </a:ln>
                <a:solidFill>
                  <a:schemeClr val="tx1"/>
                </a:solidFill>
                <a:effectLst/>
                <a:latin typeface="Arial"/>
              </a:rPr>
              <a:t>operation(params)</a:t>
            </a:r>
            <a:endParaRPr kumimoji="0" lang="en-US" altLang="en-US" sz="200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Trách nhiệm (Responsibility): nghĩa vụ hoặc hành vi lớp cần thực hiện.</a:t>
            </a:r>
          </a:p>
        </p:txBody>
      </p:sp>
    </p:spTree>
    <p:extLst>
      <p:ext uri="{BB962C8B-B14F-4D97-AF65-F5344CB8AC3E}">
        <p14:creationId xmlns:p14="http://schemas.microsoft.com/office/powerpoint/2010/main" val="1635759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00BD-A549-E04D-6F36-D893A49A147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F7AED61-C326-4E50-B1E4-C9B4E2592285}"/>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3" name="Slide Number Placeholder 2">
            <a:extLst>
              <a:ext uri="{FF2B5EF4-FFF2-40B4-BE49-F238E27FC236}">
                <a16:creationId xmlns:a16="http://schemas.microsoft.com/office/drawing/2014/main" id="{39F3D32C-BD97-05EC-8F29-E814A8A4F79B}"/>
              </a:ext>
            </a:extLst>
          </p:cNvPr>
          <p:cNvSpPr>
            <a:spLocks noGrp="1"/>
          </p:cNvSpPr>
          <p:nvPr>
            <p:ph type="sldNum" sz="quarter" idx="12"/>
          </p:nvPr>
        </p:nvSpPr>
        <p:spPr/>
        <p:txBody>
          <a:bodyPr/>
          <a:lstStyle/>
          <a:p>
            <a:fld id="{87E7843D-FF13-4365-9478-9625B70A2705}" type="slidenum">
              <a:rPr lang="en-US" smtClean="0"/>
              <a:t>47</a:t>
            </a:fld>
            <a:endParaRPr lang="en-US"/>
          </a:p>
        </p:txBody>
      </p:sp>
      <p:pic>
        <p:nvPicPr>
          <p:cNvPr id="10" name="Picture 9">
            <a:extLst>
              <a:ext uri="{FF2B5EF4-FFF2-40B4-BE49-F238E27FC236}">
                <a16:creationId xmlns:a16="http://schemas.microsoft.com/office/drawing/2014/main" id="{0C0DAA9E-3082-BF6A-2EB1-04AEF0EA86EF}"/>
              </a:ext>
            </a:extLst>
          </p:cNvPr>
          <p:cNvPicPr>
            <a:picLocks noChangeAspect="1"/>
          </p:cNvPicPr>
          <p:nvPr/>
        </p:nvPicPr>
        <p:blipFill>
          <a:blip r:embed="rId2"/>
          <a:stretch>
            <a:fillRect/>
          </a:stretch>
        </p:blipFill>
        <p:spPr>
          <a:xfrm>
            <a:off x="8563967" y="2720713"/>
            <a:ext cx="3522525" cy="3328980"/>
          </a:xfrm>
          <a:prstGeom prst="rect">
            <a:avLst/>
          </a:prstGeom>
        </p:spPr>
      </p:pic>
      <p:sp>
        <p:nvSpPr>
          <p:cNvPr id="11" name="Content Placeholder 10">
            <a:extLst>
              <a:ext uri="{FF2B5EF4-FFF2-40B4-BE49-F238E27FC236}">
                <a16:creationId xmlns:a16="http://schemas.microsoft.com/office/drawing/2014/main" id="{375A1A4C-AA06-41C7-7CA3-B1C367D1D182}"/>
              </a:ext>
            </a:extLst>
          </p:cNvPr>
          <p:cNvSpPr>
            <a:spLocks noGrp="1"/>
          </p:cNvSpPr>
          <p:nvPr>
            <p:ph idx="1"/>
          </p:nvPr>
        </p:nvSpPr>
        <p:spPr>
          <a:xfrm>
            <a:off x="1484311" y="2720713"/>
            <a:ext cx="6648574" cy="327526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✅Thuộc tính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Là các đặc điểm hoặc dữ liệu của một lớp.</a:t>
            </a:r>
            <a:br>
              <a:rPr kumimoji="0" lang="en-US" altLang="en-US" sz="20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Mỗi thuộc tính có tên và kiểu dữ liệu, dùng để lưu trữ thông tin về các đối tượng (thể hiện) của lớp đó.</a:t>
            </a:r>
            <a:br>
              <a:rPr kumimoji="0" lang="en-US" altLang="en-US" sz="20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Ví dụ: Lớp </a:t>
            </a:r>
            <a:r>
              <a:rPr kumimoji="0" lang="en-US" altLang="en-US" sz="2400" b="0" i="0" u="none" strike="noStrike" cap="none" normalizeH="0" baseline="0">
                <a:ln>
                  <a:noFill/>
                </a:ln>
                <a:solidFill>
                  <a:schemeClr val="tx1"/>
                </a:solidFill>
                <a:effectLst/>
                <a:latin typeface="Arial"/>
              </a:rPr>
              <a:t>SinhVien có thuộc tính ten (kiểu chuỗi), tuoi (kiểu số nguyên).</a:t>
            </a:r>
            <a:endParaRPr kumimoji="0" lang="en-US" altLang="en-US" sz="200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1535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8A49-759E-46A7-8DFC-7710819D5D6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CF6B910-4073-EAC4-BD25-E5741CD249C9}"/>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3" name="Slide Number Placeholder 2">
            <a:extLst>
              <a:ext uri="{FF2B5EF4-FFF2-40B4-BE49-F238E27FC236}">
                <a16:creationId xmlns:a16="http://schemas.microsoft.com/office/drawing/2014/main" id="{8FBA2969-A081-9A4C-0CFD-85F7493752AF}"/>
              </a:ext>
            </a:extLst>
          </p:cNvPr>
          <p:cNvSpPr>
            <a:spLocks noGrp="1"/>
          </p:cNvSpPr>
          <p:nvPr>
            <p:ph type="sldNum" sz="quarter" idx="12"/>
          </p:nvPr>
        </p:nvSpPr>
        <p:spPr/>
        <p:txBody>
          <a:bodyPr/>
          <a:lstStyle/>
          <a:p>
            <a:fld id="{87E7843D-FF13-4365-9478-9625B70A2705}" type="slidenum">
              <a:rPr lang="en-US" smtClean="0"/>
              <a:t>48</a:t>
            </a:fld>
            <a:endParaRPr lang="en-US"/>
          </a:p>
        </p:txBody>
      </p:sp>
      <p:pic>
        <p:nvPicPr>
          <p:cNvPr id="10" name="Picture 9">
            <a:extLst>
              <a:ext uri="{FF2B5EF4-FFF2-40B4-BE49-F238E27FC236}">
                <a16:creationId xmlns:a16="http://schemas.microsoft.com/office/drawing/2014/main" id="{DE2911B7-FC9C-51A2-9EF9-8834507C6BE7}"/>
              </a:ext>
            </a:extLst>
          </p:cNvPr>
          <p:cNvPicPr>
            <a:picLocks noChangeAspect="1"/>
          </p:cNvPicPr>
          <p:nvPr/>
        </p:nvPicPr>
        <p:blipFill>
          <a:blip r:embed="rId2"/>
          <a:stretch>
            <a:fillRect/>
          </a:stretch>
        </p:blipFill>
        <p:spPr>
          <a:xfrm>
            <a:off x="8563967" y="2720713"/>
            <a:ext cx="3522525" cy="3328980"/>
          </a:xfrm>
          <a:prstGeom prst="rect">
            <a:avLst/>
          </a:prstGeom>
        </p:spPr>
      </p:pic>
      <p:sp>
        <p:nvSpPr>
          <p:cNvPr id="11" name="Content Placeholder 10">
            <a:extLst>
              <a:ext uri="{FF2B5EF4-FFF2-40B4-BE49-F238E27FC236}">
                <a16:creationId xmlns:a16="http://schemas.microsoft.com/office/drawing/2014/main" id="{AC537E70-BF36-1E9E-19D6-F3F245EE6288}"/>
              </a:ext>
            </a:extLst>
          </p:cNvPr>
          <p:cNvSpPr>
            <a:spLocks noGrp="1"/>
          </p:cNvSpPr>
          <p:nvPr>
            <p:ph idx="1"/>
          </p:nvPr>
        </p:nvSpPr>
        <p:spPr>
          <a:xfrm>
            <a:off x="1484310" y="2720713"/>
            <a:ext cx="6850797" cy="3275266"/>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 Hoạt động (Operation)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Là hành động hoặc chức năng mà một lớp có thể thực hiện.</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1900" b="0" i="0" u="none" strike="noStrike" cap="none" normalizeH="0" baseline="0">
                <a:ln>
                  <a:noFill/>
                </a:ln>
                <a:solidFill>
                  <a:schemeClr val="tx1"/>
                </a:solidFill>
                <a:effectLst/>
                <a:latin typeface="Arial" panose="020B0604020202020204" pitchFamily="34" charset="0"/>
              </a:rPr>
              <a:t>Nó mô tả dịch vụ mà đối tượng của lớp đó có thể cung cấp.</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1900" b="0" i="0" u="none" strike="noStrike" cap="none" normalizeH="0" baseline="0">
                <a:ln>
                  <a:noFill/>
                </a:ln>
                <a:solidFill>
                  <a:schemeClr val="tx1"/>
                </a:solidFill>
                <a:effectLst/>
                <a:latin typeface="Arial" panose="020B0604020202020204" pitchFamily="34" charset="0"/>
              </a:rPr>
              <a:t>Ví dụ: Lớp </a:t>
            </a:r>
            <a:r>
              <a:rPr kumimoji="0" lang="en-US" altLang="en-US" sz="1900" b="0" i="0" u="none" strike="noStrike" cap="none" normalizeH="0" baseline="0">
                <a:ln>
                  <a:noFill/>
                </a:ln>
                <a:solidFill>
                  <a:schemeClr val="tx1"/>
                </a:solidFill>
                <a:effectLst/>
                <a:latin typeface="Arial"/>
              </a:rPr>
              <a:t>MayATM có hoạt động rutTien(), kiemTraSoDu().</a:t>
            </a:r>
          </a:p>
          <a:p>
            <a:pPr>
              <a:buNone/>
            </a:pPr>
            <a:r>
              <a:rPr lang="en-US" sz="1900" b="0">
                <a:latin typeface="Arial"/>
              </a:rPr>
              <a:t>✅ </a:t>
            </a:r>
            <a:r>
              <a:rPr lang="vi-VN" sz="1900" b="0">
                <a:latin typeface="Arial"/>
              </a:rPr>
              <a:t>Trách nhiệm (Responsibility)</a:t>
            </a:r>
          </a:p>
          <a:p>
            <a:r>
              <a:rPr lang="vi-VN" sz="1900" b="0">
                <a:latin typeface="Arial"/>
              </a:rPr>
              <a:t>Là những gì một lớp cần đảm nhận – có thể là thông tin mà lớp quản lý (thuộc tính), hoặc hành vi mà lớp thực hiện (hoạt động).</a:t>
            </a:r>
            <a:br>
              <a:rPr lang="vi-VN" sz="1900"/>
            </a:br>
            <a:r>
              <a:rPr lang="vi-VN" sz="1900" b="0">
                <a:latin typeface="Arial"/>
              </a:rPr>
              <a:t>Khi xây dựng mô hình chi tiết hơn, trách nhiệm sẽ được cụ thể hóa thành các thuộc tính và hoạt động.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2742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084E5-215A-FFBA-B756-264244059AB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2722715-3CD3-B1FB-4ECE-D43ADC2DD99A}"/>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3" name="Slide Number Placeholder 2">
            <a:extLst>
              <a:ext uri="{FF2B5EF4-FFF2-40B4-BE49-F238E27FC236}">
                <a16:creationId xmlns:a16="http://schemas.microsoft.com/office/drawing/2014/main" id="{F047934D-551A-5CC9-7189-695975289F27}"/>
              </a:ext>
            </a:extLst>
          </p:cNvPr>
          <p:cNvSpPr>
            <a:spLocks noGrp="1"/>
          </p:cNvSpPr>
          <p:nvPr>
            <p:ph type="sldNum" sz="quarter" idx="12"/>
          </p:nvPr>
        </p:nvSpPr>
        <p:spPr/>
        <p:txBody>
          <a:bodyPr/>
          <a:lstStyle/>
          <a:p>
            <a:fld id="{87E7843D-FF13-4365-9478-9625B70A2705}" type="slidenum">
              <a:rPr lang="en-US" smtClean="0"/>
              <a:t>49</a:t>
            </a:fld>
            <a:endParaRPr lang="en-US"/>
          </a:p>
        </p:txBody>
      </p:sp>
      <p:sp>
        <p:nvSpPr>
          <p:cNvPr id="2" name="Content Placeholder 1">
            <a:extLst>
              <a:ext uri="{FF2B5EF4-FFF2-40B4-BE49-F238E27FC236}">
                <a16:creationId xmlns:a16="http://schemas.microsoft.com/office/drawing/2014/main" id="{315AC3AE-59B7-BAE5-B814-9E7E961DB89B}"/>
              </a:ext>
            </a:extLst>
          </p:cNvPr>
          <p:cNvSpPr>
            <a:spLocks noGrp="1"/>
          </p:cNvSpPr>
          <p:nvPr>
            <p:ph idx="1"/>
          </p:nvPr>
        </p:nvSpPr>
        <p:spPr/>
        <p:txBody>
          <a:bodyPr>
            <a:normAutofit fontScale="85000" lnSpcReduction="20000"/>
          </a:bodyPr>
          <a:lstStyle/>
          <a:p>
            <a:pPr>
              <a:buNone/>
            </a:pPr>
            <a:r>
              <a:rPr lang="vi-VN" sz="2400" b="0">
                <a:latin typeface="Arial"/>
              </a:rPr>
              <a:t>Đối tượng (Object) là gì?</a:t>
            </a:r>
          </a:p>
          <a:p>
            <a:pPr>
              <a:buFont typeface="Arial" panose="020B0604020202020204" pitchFamily="34" charset="0"/>
              <a:buChar char="•"/>
            </a:pPr>
            <a:r>
              <a:rPr lang="vi-VN" sz="2400" b="0">
                <a:latin typeface="Arial"/>
              </a:rPr>
              <a:t>Là một khái niệm, sự vật hay thực thể cụ thể có ý nghĩa trong hệ thống bạn đang xây dựng.</a:t>
            </a:r>
          </a:p>
          <a:p>
            <a:pPr>
              <a:buFont typeface="Arial" panose="020B0604020202020204" pitchFamily="34" charset="0"/>
              <a:buChar char="•"/>
            </a:pPr>
            <a:r>
              <a:rPr lang="vi-VN" sz="2400" b="0">
                <a:latin typeface="Arial"/>
              </a:rPr>
              <a:t>Ví dụ:</a:t>
            </a:r>
          </a:p>
          <a:p>
            <a:pPr marL="457200" lvl="1" indent="0">
              <a:buNone/>
            </a:pPr>
            <a:r>
              <a:rPr lang="vi-VN" sz="2400" b="0">
                <a:latin typeface="Arial"/>
              </a:rPr>
              <a:t>Joe Smith là một đối tượng của lớp Person (Người).</a:t>
            </a:r>
          </a:p>
          <a:p>
            <a:pPr marL="457200" lvl="1" indent="0">
              <a:buNone/>
            </a:pPr>
            <a:r>
              <a:rPr lang="vi-VN" sz="2400" b="0">
                <a:latin typeface="Arial"/>
              </a:rPr>
              <a:t>Lassie là một đối tượng của lớp Dog (Chó).</a:t>
            </a:r>
          </a:p>
          <a:p>
            <a:pPr marL="457200" lvl="1" indent="0">
              <a:buNone/>
            </a:pPr>
            <a:r>
              <a:rPr lang="vi-VN" sz="2400" b="0">
                <a:latin typeface="Arial"/>
              </a:rPr>
              <a:t>Chuyến bay #713 là một đối tượng của lớp Flight (Chuyến bay).</a:t>
            </a:r>
          </a:p>
          <a:p>
            <a:pPr marL="457200" lvl="1" indent="0">
              <a:buNone/>
            </a:pPr>
            <a:r>
              <a:rPr lang="vi-VN" sz="2400" b="0">
                <a:latin typeface="Arial"/>
              </a:rPr>
              <a:t>Cửa sổ trên cùng là một đối tượng của lớp Window (Cửa sổ).</a:t>
            </a:r>
          </a:p>
          <a:p>
            <a:pPr marL="0" indent="0">
              <a:buNone/>
            </a:pPr>
            <a:endParaRPr lang="en-US"/>
          </a:p>
        </p:txBody>
      </p:sp>
    </p:spTree>
    <p:extLst>
      <p:ext uri="{BB962C8B-B14F-4D97-AF65-F5344CB8AC3E}">
        <p14:creationId xmlns:p14="http://schemas.microsoft.com/office/powerpoint/2010/main" val="507179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104BE-E266-12E8-14F4-0499C215236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6A545A7-0ED2-A565-2346-71BBE8EA7147}"/>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Biểu đồ Lớp (Class Diagram)</a:t>
            </a:r>
          </a:p>
        </p:txBody>
      </p:sp>
      <p:sp>
        <p:nvSpPr>
          <p:cNvPr id="3" name="Slide Number Placeholder 2">
            <a:extLst>
              <a:ext uri="{FF2B5EF4-FFF2-40B4-BE49-F238E27FC236}">
                <a16:creationId xmlns:a16="http://schemas.microsoft.com/office/drawing/2014/main" id="{CA9497CC-0FF2-94DC-2396-414490DC6808}"/>
              </a:ext>
            </a:extLst>
          </p:cNvPr>
          <p:cNvSpPr>
            <a:spLocks noGrp="1"/>
          </p:cNvSpPr>
          <p:nvPr>
            <p:ph type="sldNum" sz="quarter" idx="12"/>
          </p:nvPr>
        </p:nvSpPr>
        <p:spPr/>
        <p:txBody>
          <a:bodyPr/>
          <a:lstStyle/>
          <a:p>
            <a:fld id="{87E7843D-FF13-4365-9478-9625B70A2705}" type="slidenum">
              <a:rPr lang="en-US" smtClean="0"/>
              <a:t>50</a:t>
            </a:fld>
            <a:endParaRPr lang="en-US"/>
          </a:p>
        </p:txBody>
      </p:sp>
      <p:sp>
        <p:nvSpPr>
          <p:cNvPr id="2" name="Content Placeholder 1">
            <a:extLst>
              <a:ext uri="{FF2B5EF4-FFF2-40B4-BE49-F238E27FC236}">
                <a16:creationId xmlns:a16="http://schemas.microsoft.com/office/drawing/2014/main" id="{B854C9ED-0DEC-D7F0-5C8A-CF34DB27B7E7}"/>
              </a:ext>
            </a:extLst>
          </p:cNvPr>
          <p:cNvSpPr>
            <a:spLocks noGrp="1"/>
          </p:cNvSpPr>
          <p:nvPr>
            <p:ph idx="1"/>
          </p:nvPr>
        </p:nvSpPr>
        <p:spPr/>
        <p:txBody>
          <a:bodyPr>
            <a:normAutofit/>
          </a:bodyPr>
          <a:lstStyle/>
          <a:p>
            <a:pPr>
              <a:buNone/>
            </a:pPr>
            <a:r>
              <a:rPr lang="vi-VN" sz="2400" b="0">
                <a:latin typeface="Arial"/>
              </a:rPr>
              <a:t>Lớp đối tượng (Object Class) là gì?</a:t>
            </a:r>
          </a:p>
          <a:p>
            <a:pPr>
              <a:buFont typeface="Arial" panose="020B0604020202020204" pitchFamily="34" charset="0"/>
              <a:buChar char="•"/>
            </a:pPr>
            <a:r>
              <a:rPr lang="vi-VN" sz="2400" b="0">
                <a:latin typeface="Arial"/>
              </a:rPr>
              <a:t>Là tập hợp của các đối tượng có cùng đặc điểm, thuộc tính và hành vi.</a:t>
            </a:r>
          </a:p>
          <a:p>
            <a:pPr>
              <a:buFont typeface="Arial" panose="020B0604020202020204" pitchFamily="34" charset="0"/>
              <a:buChar char="•"/>
            </a:pPr>
            <a:r>
              <a:rPr lang="vi-VN" sz="2400" b="0">
                <a:latin typeface="Arial"/>
              </a:rPr>
              <a:t>Mỗi đối tượng (object):</a:t>
            </a:r>
          </a:p>
          <a:p>
            <a:pPr marL="457200" lvl="1" indent="0">
              <a:buNone/>
            </a:pPr>
            <a:r>
              <a:rPr lang="vi-VN" sz="2400" b="0">
                <a:latin typeface="Arial"/>
              </a:rPr>
              <a:t>Có danh tính riêng biệt (để phân biệt với các đối tượng khác).</a:t>
            </a:r>
          </a:p>
          <a:p>
            <a:pPr marL="457200" lvl="1" indent="0">
              <a:buNone/>
            </a:pPr>
            <a:r>
              <a:rPr lang="vi-VN" sz="2400" b="0">
                <a:latin typeface="Arial"/>
              </a:rPr>
              <a:t>Là một instance (thể hiện cụ thể) của một lớp nào đó.</a:t>
            </a:r>
          </a:p>
        </p:txBody>
      </p:sp>
    </p:spTree>
    <p:extLst>
      <p:ext uri="{BB962C8B-B14F-4D97-AF65-F5344CB8AC3E}">
        <p14:creationId xmlns:p14="http://schemas.microsoft.com/office/powerpoint/2010/main" val="573062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CF373-AB75-585F-427B-72D378270D4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5CC341-4B94-7627-63D0-285ED6C06664}"/>
              </a:ext>
            </a:extLst>
          </p:cNvPr>
          <p:cNvSpPr>
            <a:spLocks noGrp="1"/>
          </p:cNvSpPr>
          <p:nvPr>
            <p:ph type="sldNum" sz="quarter" idx="12"/>
          </p:nvPr>
        </p:nvSpPr>
        <p:spPr/>
        <p:txBody>
          <a:bodyPr/>
          <a:lstStyle/>
          <a:p>
            <a:fld id="{87E7843D-FF13-4365-9478-9625B70A2705}" type="slidenum">
              <a:rPr lang="en-US" smtClean="0"/>
              <a:t>51</a:t>
            </a:fld>
            <a:endParaRPr lang="en-US"/>
          </a:p>
        </p:txBody>
      </p:sp>
      <p:pic>
        <p:nvPicPr>
          <p:cNvPr id="5" name="Picture 4">
            <a:extLst>
              <a:ext uri="{FF2B5EF4-FFF2-40B4-BE49-F238E27FC236}">
                <a16:creationId xmlns:a16="http://schemas.microsoft.com/office/drawing/2014/main" id="{3082DF97-DC07-6A85-4CB7-4AF56DEB0401}"/>
              </a:ext>
            </a:extLst>
          </p:cNvPr>
          <p:cNvPicPr>
            <a:picLocks noChangeAspect="1"/>
          </p:cNvPicPr>
          <p:nvPr/>
        </p:nvPicPr>
        <p:blipFill>
          <a:blip r:embed="rId2"/>
          <a:stretch>
            <a:fillRect/>
          </a:stretch>
        </p:blipFill>
        <p:spPr>
          <a:xfrm>
            <a:off x="1" y="1"/>
            <a:ext cx="12192000" cy="6858000"/>
          </a:xfrm>
          <a:prstGeom prst="rect">
            <a:avLst/>
          </a:prstGeom>
        </p:spPr>
      </p:pic>
    </p:spTree>
    <p:extLst>
      <p:ext uri="{BB962C8B-B14F-4D97-AF65-F5344CB8AC3E}">
        <p14:creationId xmlns:p14="http://schemas.microsoft.com/office/powerpoint/2010/main" val="465313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1F68-3298-00C3-E65B-4726B9D77AA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4F839F7-DB96-BC1A-3379-0187604D9571}"/>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Mối quan hệ (Relationship) trong sơ đồ lớp</a:t>
            </a:r>
            <a:endParaRPr lang="en-US" b="1"/>
          </a:p>
        </p:txBody>
      </p:sp>
      <p:sp>
        <p:nvSpPr>
          <p:cNvPr id="3" name="Slide Number Placeholder 2">
            <a:extLst>
              <a:ext uri="{FF2B5EF4-FFF2-40B4-BE49-F238E27FC236}">
                <a16:creationId xmlns:a16="http://schemas.microsoft.com/office/drawing/2014/main" id="{27F93B21-FCD5-B9EF-6119-1E56205AAD2D}"/>
              </a:ext>
            </a:extLst>
          </p:cNvPr>
          <p:cNvSpPr>
            <a:spLocks noGrp="1"/>
          </p:cNvSpPr>
          <p:nvPr>
            <p:ph type="sldNum" sz="quarter" idx="12"/>
          </p:nvPr>
        </p:nvSpPr>
        <p:spPr/>
        <p:txBody>
          <a:bodyPr/>
          <a:lstStyle/>
          <a:p>
            <a:fld id="{87E7843D-FF13-4365-9478-9625B70A2705}" type="slidenum">
              <a:rPr lang="en-US" smtClean="0"/>
              <a:t>52</a:t>
            </a:fld>
            <a:endParaRPr lang="en-US"/>
          </a:p>
        </p:txBody>
      </p:sp>
      <p:sp>
        <p:nvSpPr>
          <p:cNvPr id="10" name="Content Placeholder 9">
            <a:extLst>
              <a:ext uri="{FF2B5EF4-FFF2-40B4-BE49-F238E27FC236}">
                <a16:creationId xmlns:a16="http://schemas.microsoft.com/office/drawing/2014/main" id="{5F73E811-DDAB-AEEB-8964-E81BA42391E2}"/>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Mối quan hệ là sự kết nối giữa các thực thể (lớp hoặc đối tượng) trong hệ thống.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Đây là cách để mô tả cách các lớp tương tác hoặc liên kết với nhau.</a:t>
            </a:r>
          </a:p>
          <a:p>
            <a:pPr>
              <a:buNone/>
            </a:pPr>
            <a:r>
              <a:rPr lang="en-US" sz="2400" b="0">
                <a:latin typeface="Arial"/>
              </a:rPr>
              <a:t>Các mối quan hệ chung: Phụ thuộc, Kết hợp, Kế thừa và  Tổng hợp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a:ln>
                <a:noFill/>
              </a:ln>
              <a:solidFill>
                <a:schemeClr val="tx1"/>
              </a:solidFill>
              <a:effectLst/>
              <a:latin typeface="Arial" panose="020B0604020202020204" pitchFamily="34" charset="0"/>
            </a:endParaRPr>
          </a:p>
          <a:p>
            <a:endParaRPr lang="en-US"/>
          </a:p>
        </p:txBody>
      </p:sp>
    </p:spTree>
    <p:extLst>
      <p:ext uri="{BB962C8B-B14F-4D97-AF65-F5344CB8AC3E}">
        <p14:creationId xmlns:p14="http://schemas.microsoft.com/office/powerpoint/2010/main" val="982028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BAD27-47B5-484D-27FB-AF3326F0455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7F105A2-5A83-5799-4277-8DFF72954381}"/>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Mối quan hệ (Relationship) trong sơ đồ lớp</a:t>
            </a:r>
            <a:endParaRPr lang="en-US" b="1"/>
          </a:p>
        </p:txBody>
      </p:sp>
      <p:sp>
        <p:nvSpPr>
          <p:cNvPr id="3" name="Slide Number Placeholder 2">
            <a:extLst>
              <a:ext uri="{FF2B5EF4-FFF2-40B4-BE49-F238E27FC236}">
                <a16:creationId xmlns:a16="http://schemas.microsoft.com/office/drawing/2014/main" id="{043FD506-AB03-5CB9-A8F5-8116F070405A}"/>
              </a:ext>
            </a:extLst>
          </p:cNvPr>
          <p:cNvSpPr>
            <a:spLocks noGrp="1"/>
          </p:cNvSpPr>
          <p:nvPr>
            <p:ph type="sldNum" sz="quarter" idx="12"/>
          </p:nvPr>
        </p:nvSpPr>
        <p:spPr/>
        <p:txBody>
          <a:bodyPr/>
          <a:lstStyle/>
          <a:p>
            <a:fld id="{87E7843D-FF13-4365-9478-9625B70A2705}" type="slidenum">
              <a:rPr lang="en-US" smtClean="0"/>
              <a:t>53</a:t>
            </a:fld>
            <a:endParaRPr lang="en-US"/>
          </a:p>
        </p:txBody>
      </p:sp>
      <p:sp>
        <p:nvSpPr>
          <p:cNvPr id="2" name="Content Placeholder 1">
            <a:extLst>
              <a:ext uri="{FF2B5EF4-FFF2-40B4-BE49-F238E27FC236}">
                <a16:creationId xmlns:a16="http://schemas.microsoft.com/office/drawing/2014/main" id="{5DD4CC4F-6E14-15AE-B1AD-EA76A24F1F73}"/>
              </a:ext>
            </a:extLst>
          </p:cNvPr>
          <p:cNvSpPr>
            <a:spLocks noGrp="1"/>
          </p:cNvSpPr>
          <p:nvPr>
            <p:ph idx="1"/>
          </p:nvPr>
        </p:nvSpPr>
        <p:spPr>
          <a:xfrm>
            <a:off x="1484310" y="2376745"/>
            <a:ext cx="6349636" cy="3760286"/>
          </a:xfrm>
        </p:spPr>
        <p:txBody>
          <a:bodyPr>
            <a:normAutofit/>
          </a:bodyPr>
          <a:lstStyle/>
          <a:p>
            <a:pPr>
              <a:buNone/>
            </a:pPr>
            <a:r>
              <a:rPr lang="vi-VN" sz="2400" b="0">
                <a:latin typeface="Arial"/>
              </a:rPr>
              <a:t>Dependency (Phụ thuộc)</a:t>
            </a:r>
          </a:p>
          <a:p>
            <a:pPr marL="0" indent="0">
              <a:buNone/>
            </a:pPr>
            <a:r>
              <a:rPr lang="en-US" sz="2400" b="0">
                <a:latin typeface="Arial"/>
              </a:rPr>
              <a:t>🔸 </a:t>
            </a:r>
            <a:r>
              <a:rPr lang="vi-VN" sz="2400" b="0">
                <a:latin typeface="Arial"/>
              </a:rPr>
              <a:t>Định nghĩa: Mối quan hệ tạm thời, một lớp sử dụng lớp khác (thường là trong phương thức).</a:t>
            </a:r>
            <a:br>
              <a:rPr lang="vi-VN" sz="1900"/>
            </a:br>
            <a:r>
              <a:rPr lang="en-US" sz="2400" b="0">
                <a:latin typeface="Arial"/>
              </a:rPr>
              <a:t>🔸 </a:t>
            </a:r>
            <a:r>
              <a:rPr lang="vi-VN" sz="2400" b="0">
                <a:latin typeface="Arial"/>
              </a:rPr>
              <a:t>Ý nghĩa: Nếu lớp A thay đổi, có thể ảnh hưởng đến lớp B.</a:t>
            </a:r>
            <a:br>
              <a:rPr lang="vi-VN" sz="1900"/>
            </a:br>
            <a:r>
              <a:rPr lang="en-US" sz="2400" b="0">
                <a:latin typeface="Arial"/>
              </a:rPr>
              <a:t>🔸 </a:t>
            </a:r>
            <a:r>
              <a:rPr lang="vi-VN" sz="2400" b="0">
                <a:latin typeface="Arial"/>
              </a:rPr>
              <a:t>Ký hiệu: Mũi tên nét đứt, chỉ từ lớp sử dụng → lớp được sử dụng.</a:t>
            </a:r>
          </a:p>
        </p:txBody>
      </p:sp>
      <p:pic>
        <p:nvPicPr>
          <p:cNvPr id="5" name="Picture 4">
            <a:extLst>
              <a:ext uri="{FF2B5EF4-FFF2-40B4-BE49-F238E27FC236}">
                <a16:creationId xmlns:a16="http://schemas.microsoft.com/office/drawing/2014/main" id="{72153B47-54A4-BECB-162C-6BB0D3AE8716}"/>
              </a:ext>
            </a:extLst>
          </p:cNvPr>
          <p:cNvPicPr>
            <a:picLocks noChangeAspect="1"/>
          </p:cNvPicPr>
          <p:nvPr/>
        </p:nvPicPr>
        <p:blipFill>
          <a:blip r:embed="rId2"/>
          <a:stretch>
            <a:fillRect/>
          </a:stretch>
        </p:blipFill>
        <p:spPr>
          <a:xfrm>
            <a:off x="8660423" y="2376744"/>
            <a:ext cx="3458409" cy="4481256"/>
          </a:xfrm>
          <a:prstGeom prst="rect">
            <a:avLst/>
          </a:prstGeom>
        </p:spPr>
      </p:pic>
    </p:spTree>
    <p:extLst>
      <p:ext uri="{BB962C8B-B14F-4D97-AF65-F5344CB8AC3E}">
        <p14:creationId xmlns:p14="http://schemas.microsoft.com/office/powerpoint/2010/main" val="113145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74D7D-9FB0-9068-E39B-1F081F7F33F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85965F8-CE07-7977-1B66-3361B32EF863}"/>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Mối quan hệ (Relationship) trong sơ đồ lớp</a:t>
            </a:r>
            <a:endParaRPr lang="en-US" b="1"/>
          </a:p>
        </p:txBody>
      </p:sp>
      <p:sp>
        <p:nvSpPr>
          <p:cNvPr id="3" name="Slide Number Placeholder 2">
            <a:extLst>
              <a:ext uri="{FF2B5EF4-FFF2-40B4-BE49-F238E27FC236}">
                <a16:creationId xmlns:a16="http://schemas.microsoft.com/office/drawing/2014/main" id="{4DF06E8A-4824-6DBA-6947-AE532B14D61C}"/>
              </a:ext>
            </a:extLst>
          </p:cNvPr>
          <p:cNvSpPr>
            <a:spLocks noGrp="1"/>
          </p:cNvSpPr>
          <p:nvPr>
            <p:ph type="sldNum" sz="quarter" idx="12"/>
          </p:nvPr>
        </p:nvSpPr>
        <p:spPr/>
        <p:txBody>
          <a:bodyPr/>
          <a:lstStyle/>
          <a:p>
            <a:fld id="{87E7843D-FF13-4365-9478-9625B70A2705}" type="slidenum">
              <a:rPr lang="en-US" smtClean="0"/>
              <a:t>54</a:t>
            </a:fld>
            <a:endParaRPr lang="en-US"/>
          </a:p>
        </p:txBody>
      </p:sp>
      <p:sp>
        <p:nvSpPr>
          <p:cNvPr id="10" name="Content Placeholder 9">
            <a:extLst>
              <a:ext uri="{FF2B5EF4-FFF2-40B4-BE49-F238E27FC236}">
                <a16:creationId xmlns:a16="http://schemas.microsoft.com/office/drawing/2014/main" id="{25B72901-16B9-2215-BA76-FB134ADD434E}"/>
              </a:ext>
            </a:extLst>
          </p:cNvPr>
          <p:cNvSpPr>
            <a:spLocks noGrp="1"/>
          </p:cNvSpPr>
          <p:nvPr>
            <p:ph idx="1"/>
          </p:nvPr>
        </p:nvSpPr>
        <p:spPr>
          <a:xfrm>
            <a:off x="1528272" y="2590799"/>
            <a:ext cx="5567121" cy="4091355"/>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Generalization (Kế thừa)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 Định nghĩa: Mối quan hệ giữa lớp cha và lớp con (lớp con kế thừa lớp cha).</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Ý nghĩa: Lớp con kế thừa thuộc tính và phương thức từ lớp cha.</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Ký hiệu: Mũi tên rỗng tam giác, từ lớp con → lớp cha.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Ví dụ:</a:t>
            </a:r>
          </a:p>
          <a:p>
            <a:endParaRPr lang="en-US" sz="1900"/>
          </a:p>
        </p:txBody>
      </p:sp>
      <p:pic>
        <p:nvPicPr>
          <p:cNvPr id="12" name="Picture 11">
            <a:extLst>
              <a:ext uri="{FF2B5EF4-FFF2-40B4-BE49-F238E27FC236}">
                <a16:creationId xmlns:a16="http://schemas.microsoft.com/office/drawing/2014/main" id="{4852757E-B715-EAD8-891A-DCC1D019199C}"/>
              </a:ext>
            </a:extLst>
          </p:cNvPr>
          <p:cNvPicPr>
            <a:picLocks noChangeAspect="1"/>
          </p:cNvPicPr>
          <p:nvPr/>
        </p:nvPicPr>
        <p:blipFill>
          <a:blip r:embed="rId2"/>
          <a:stretch>
            <a:fillRect/>
          </a:stretch>
        </p:blipFill>
        <p:spPr>
          <a:xfrm>
            <a:off x="7095393" y="2590799"/>
            <a:ext cx="5096607" cy="4091355"/>
          </a:xfrm>
          <a:prstGeom prst="rect">
            <a:avLst/>
          </a:prstGeom>
        </p:spPr>
      </p:pic>
    </p:spTree>
    <p:extLst>
      <p:ext uri="{BB962C8B-B14F-4D97-AF65-F5344CB8AC3E}">
        <p14:creationId xmlns:p14="http://schemas.microsoft.com/office/powerpoint/2010/main" val="4224460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9F4A-8251-2509-EA26-AF20E1AFD60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102CE75-FBE9-CECD-3626-F50B7FE32434}"/>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Mối quan hệ (Relationship) trong sơ đồ lớp</a:t>
            </a:r>
            <a:endParaRPr lang="en-US" b="1"/>
          </a:p>
        </p:txBody>
      </p:sp>
      <p:sp>
        <p:nvSpPr>
          <p:cNvPr id="3" name="Slide Number Placeholder 2">
            <a:extLst>
              <a:ext uri="{FF2B5EF4-FFF2-40B4-BE49-F238E27FC236}">
                <a16:creationId xmlns:a16="http://schemas.microsoft.com/office/drawing/2014/main" id="{46DDCD0D-201B-11FC-4501-866612AF10FD}"/>
              </a:ext>
            </a:extLst>
          </p:cNvPr>
          <p:cNvSpPr>
            <a:spLocks noGrp="1"/>
          </p:cNvSpPr>
          <p:nvPr>
            <p:ph type="sldNum" sz="quarter" idx="12"/>
          </p:nvPr>
        </p:nvSpPr>
        <p:spPr/>
        <p:txBody>
          <a:bodyPr/>
          <a:lstStyle/>
          <a:p>
            <a:fld id="{87E7843D-FF13-4365-9478-9625B70A2705}" type="slidenum">
              <a:rPr lang="en-US" smtClean="0"/>
              <a:t>55</a:t>
            </a:fld>
            <a:endParaRPr lang="en-US"/>
          </a:p>
        </p:txBody>
      </p:sp>
      <p:sp>
        <p:nvSpPr>
          <p:cNvPr id="15" name="Content Placeholder 14">
            <a:extLst>
              <a:ext uri="{FF2B5EF4-FFF2-40B4-BE49-F238E27FC236}">
                <a16:creationId xmlns:a16="http://schemas.microsoft.com/office/drawing/2014/main" id="{1AF36A5A-3AFD-1C04-C696-EA34D84EC9AF}"/>
              </a:ext>
            </a:extLst>
          </p:cNvPr>
          <p:cNvSpPr>
            <a:spLocks noGrp="1"/>
          </p:cNvSpPr>
          <p:nvPr>
            <p:ph idx="1"/>
          </p:nvPr>
        </p:nvSpPr>
        <p:spPr>
          <a:xfrm>
            <a:off x="1484310" y="2590799"/>
            <a:ext cx="5619875" cy="426720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Association (Kết hợp)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 Định nghĩa: Mối quan hệ hai chiều giữa các lớp, biểu thị sự liên kết giữa các đối tượng.</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Ý nghĩa: Các đối tượng của lớp này liên kết hoặc tương tác với đối tượng của lớp kia.</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Ký hiệu: Đường nét liền giữa hai lớp, có thể kèm nhãn và số lượng (multiplicity).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Ví dụ: </a:t>
            </a:r>
          </a:p>
          <a:p>
            <a:endParaRPr lang="en-US" sz="1900"/>
          </a:p>
        </p:txBody>
      </p:sp>
      <p:pic>
        <p:nvPicPr>
          <p:cNvPr id="17" name="Picture 16">
            <a:extLst>
              <a:ext uri="{FF2B5EF4-FFF2-40B4-BE49-F238E27FC236}">
                <a16:creationId xmlns:a16="http://schemas.microsoft.com/office/drawing/2014/main" id="{D9FB9E4D-E368-B47C-3D35-9778BE071DFB}"/>
              </a:ext>
            </a:extLst>
          </p:cNvPr>
          <p:cNvPicPr>
            <a:picLocks noChangeAspect="1"/>
          </p:cNvPicPr>
          <p:nvPr/>
        </p:nvPicPr>
        <p:blipFill>
          <a:blip r:embed="rId2"/>
          <a:stretch>
            <a:fillRect/>
          </a:stretch>
        </p:blipFill>
        <p:spPr>
          <a:xfrm>
            <a:off x="7200901" y="3429000"/>
            <a:ext cx="4881216" cy="3429000"/>
          </a:xfrm>
          <a:prstGeom prst="rect">
            <a:avLst/>
          </a:prstGeom>
        </p:spPr>
      </p:pic>
    </p:spTree>
    <p:extLst>
      <p:ext uri="{BB962C8B-B14F-4D97-AF65-F5344CB8AC3E}">
        <p14:creationId xmlns:p14="http://schemas.microsoft.com/office/powerpoint/2010/main" val="3332473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20C4-221F-7A9F-7268-828E130FB26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35E4E5F-9FF0-921B-5BE0-0A800BE16A1E}"/>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Mối quan hệ (Relationship) trong sơ đồ lớp</a:t>
            </a:r>
            <a:endParaRPr lang="en-US" b="1"/>
          </a:p>
        </p:txBody>
      </p:sp>
      <p:sp>
        <p:nvSpPr>
          <p:cNvPr id="3" name="Slide Number Placeholder 2">
            <a:extLst>
              <a:ext uri="{FF2B5EF4-FFF2-40B4-BE49-F238E27FC236}">
                <a16:creationId xmlns:a16="http://schemas.microsoft.com/office/drawing/2014/main" id="{DF42239E-A54C-D657-D0F8-4B6019FAA76D}"/>
              </a:ext>
            </a:extLst>
          </p:cNvPr>
          <p:cNvSpPr>
            <a:spLocks noGrp="1"/>
          </p:cNvSpPr>
          <p:nvPr>
            <p:ph type="sldNum" sz="quarter" idx="12"/>
          </p:nvPr>
        </p:nvSpPr>
        <p:spPr/>
        <p:txBody>
          <a:bodyPr/>
          <a:lstStyle/>
          <a:p>
            <a:fld id="{87E7843D-FF13-4365-9478-9625B70A2705}" type="slidenum">
              <a:rPr lang="en-US" smtClean="0"/>
              <a:t>56</a:t>
            </a:fld>
            <a:endParaRPr lang="en-US"/>
          </a:p>
        </p:txBody>
      </p:sp>
      <p:sp>
        <p:nvSpPr>
          <p:cNvPr id="8" name="Content Placeholder 7">
            <a:extLst>
              <a:ext uri="{FF2B5EF4-FFF2-40B4-BE49-F238E27FC236}">
                <a16:creationId xmlns:a16="http://schemas.microsoft.com/office/drawing/2014/main" id="{04F899F2-EC7B-3DC8-D0B3-2FB1F65D6BEA}"/>
              </a:ext>
            </a:extLst>
          </p:cNvPr>
          <p:cNvSpPr>
            <a:spLocks noGrp="1"/>
          </p:cNvSpPr>
          <p:nvPr>
            <p:ph idx="1"/>
          </p:nvPr>
        </p:nvSpPr>
        <p:spPr>
          <a:xfrm>
            <a:off x="1484311" y="2666999"/>
            <a:ext cx="5303352" cy="419100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Aggregation (Kết tập)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 Định nghĩa: Mối quan hệ "toàn thể – bộ phận", nhưng bộ phận vẫn tồn tại độc lập với toàn thể.</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Ý nghĩa: Một lớp là tập hợp của các lớp khác.</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 Ký hiệu: Kim cương trắng ở phía lớp toàn thể.</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Ví dụ: Lớp </a:t>
            </a:r>
            <a:r>
              <a:rPr kumimoji="0" lang="en-US" altLang="en-US" sz="2400" b="0" i="0" u="none" strike="noStrike" cap="none" normalizeH="0" baseline="0">
                <a:ln>
                  <a:noFill/>
                </a:ln>
                <a:solidFill>
                  <a:schemeClr val="tx1"/>
                </a:solidFill>
                <a:effectLst/>
                <a:latin typeface="Arial"/>
              </a:rPr>
              <a:t>LopHoc gồm nhiều SinhVien, nhưng SinhVien vẫn tồn tại nếu LopHoc bị xóa.</a:t>
            </a:r>
            <a:endParaRPr kumimoji="0" lang="en-US" altLang="en-US" sz="1900" i="0" u="none" strike="noStrike" cap="none" normalizeH="0" baseline="0">
              <a:ln>
                <a:noFill/>
              </a:ln>
              <a:solidFill>
                <a:schemeClr val="tx1"/>
              </a:solidFill>
              <a:effectLst/>
              <a:latin typeface="Arial" panose="020B0604020202020204" pitchFamily="34" charset="0"/>
            </a:endParaRPr>
          </a:p>
          <a:p>
            <a:endParaRPr lang="en-US" sz="1900"/>
          </a:p>
        </p:txBody>
      </p:sp>
      <p:pic>
        <p:nvPicPr>
          <p:cNvPr id="9" name="Picture 8">
            <a:extLst>
              <a:ext uri="{FF2B5EF4-FFF2-40B4-BE49-F238E27FC236}">
                <a16:creationId xmlns:a16="http://schemas.microsoft.com/office/drawing/2014/main" id="{C0C2F782-70B3-CE5D-D94A-696763F5D2CF}"/>
              </a:ext>
            </a:extLst>
          </p:cNvPr>
          <p:cNvPicPr>
            <a:picLocks noChangeAspect="1"/>
          </p:cNvPicPr>
          <p:nvPr/>
        </p:nvPicPr>
        <p:blipFill>
          <a:blip r:embed="rId2"/>
          <a:stretch>
            <a:fillRect/>
          </a:stretch>
        </p:blipFill>
        <p:spPr>
          <a:xfrm>
            <a:off x="7200901" y="3429000"/>
            <a:ext cx="4881216" cy="3429000"/>
          </a:xfrm>
          <a:prstGeom prst="rect">
            <a:avLst/>
          </a:prstGeom>
        </p:spPr>
      </p:pic>
    </p:spTree>
    <p:extLst>
      <p:ext uri="{BB962C8B-B14F-4D97-AF65-F5344CB8AC3E}">
        <p14:creationId xmlns:p14="http://schemas.microsoft.com/office/powerpoint/2010/main" val="860888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786C9-ECDF-69A8-564A-97B69128332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9B3F4E2-7F12-2545-D568-2808823AB896}"/>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a:latin typeface="Arial"/>
              </a:rPr>
              <a:t>Lớp Trừu Tượng (Abstract Class)</a:t>
            </a:r>
            <a:endParaRPr lang="en-US" b="1"/>
          </a:p>
        </p:txBody>
      </p:sp>
      <p:sp>
        <p:nvSpPr>
          <p:cNvPr id="3" name="Slide Number Placeholder 2">
            <a:extLst>
              <a:ext uri="{FF2B5EF4-FFF2-40B4-BE49-F238E27FC236}">
                <a16:creationId xmlns:a16="http://schemas.microsoft.com/office/drawing/2014/main" id="{3481BC66-C668-7A60-3437-D4176149BAB4}"/>
              </a:ext>
            </a:extLst>
          </p:cNvPr>
          <p:cNvSpPr>
            <a:spLocks noGrp="1"/>
          </p:cNvSpPr>
          <p:nvPr>
            <p:ph type="sldNum" sz="quarter" idx="12"/>
          </p:nvPr>
        </p:nvSpPr>
        <p:spPr/>
        <p:txBody>
          <a:bodyPr/>
          <a:lstStyle/>
          <a:p>
            <a:fld id="{87E7843D-FF13-4365-9478-9625B70A2705}" type="slidenum">
              <a:rPr lang="en-US" smtClean="0"/>
              <a:t>57</a:t>
            </a:fld>
            <a:endParaRPr lang="en-US"/>
          </a:p>
        </p:txBody>
      </p:sp>
      <p:sp>
        <p:nvSpPr>
          <p:cNvPr id="9" name="Content Placeholder 8">
            <a:extLst>
              <a:ext uri="{FF2B5EF4-FFF2-40B4-BE49-F238E27FC236}">
                <a16:creationId xmlns:a16="http://schemas.microsoft.com/office/drawing/2014/main" id="{61ECC480-B269-B1A4-EFAA-DF1C39B21324}"/>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Là lớp không thể tạo đối tượng trực tiếp.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Chỉ được dùng làm lớp cha để kế thừa.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Chứa phương thức trừu tượng (chưa có nội dung, sẽ được cài đặt ở lớp con).</a:t>
            </a:r>
            <a:br>
              <a:rPr kumimoji="0" lang="en-US" altLang="en-US" sz="1900" i="0" u="none" strike="noStrike" cap="none" normalizeH="0" baseline="0">
                <a:ln>
                  <a:noFill/>
                </a:ln>
                <a:solidFill>
                  <a:schemeClr val="tx1"/>
                </a:solidFill>
                <a:effectLst/>
                <a:latin typeface="Arial" panose="020B0604020202020204" pitchFamily="34" charset="0"/>
              </a:rPr>
            </a:br>
            <a:r>
              <a:rPr kumimoji="0" lang="en-US" altLang="en-US" sz="2400" b="0" i="1" u="none" strike="noStrike" cap="none" normalizeH="0" baseline="0">
                <a:ln>
                  <a:noFill/>
                </a:ln>
                <a:solidFill>
                  <a:schemeClr val="tx1"/>
                </a:solidFill>
                <a:effectLst/>
                <a:latin typeface="Arial" panose="020B0604020202020204" pitchFamily="34" charset="0"/>
              </a:rPr>
              <a:t>Ví dụ</a:t>
            </a:r>
            <a:r>
              <a:rPr kumimoji="0" lang="en-US" altLang="en-US" sz="2400" b="0" i="0" u="none" strike="noStrike" cap="none" normalizeH="0" baseline="0">
                <a:ln>
                  <a:noFill/>
                </a:ln>
                <a:solidFill>
                  <a:schemeClr val="tx1"/>
                </a:solidFill>
                <a:effectLst/>
                <a:latin typeface="Arial" panose="020B0604020202020204" pitchFamily="34" charset="0"/>
              </a:rPr>
              <a:t>: </a:t>
            </a:r>
            <a:r>
              <a:rPr kumimoji="0" lang="en-US" altLang="en-US" sz="2400" b="0" i="0" u="none" strike="noStrike" cap="none" normalizeH="0" baseline="0">
                <a:ln>
                  <a:noFill/>
                </a:ln>
                <a:solidFill>
                  <a:schemeClr val="tx1"/>
                </a:solidFill>
                <a:effectLst/>
                <a:latin typeface="Arial"/>
              </a:rPr>
              <a:t>HinhHoc là lớp trừu tượng của HinhTron, HinhVuong.</a:t>
            </a:r>
            <a:endParaRPr kumimoji="0" lang="en-US" altLang="en-US" sz="190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2584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8839D-0DCB-82A2-F30D-439D29FFDD2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5C9132-2002-BEFB-EAF6-FC3F2B8CB5C4}"/>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sz="4000" b="1">
                <a:latin typeface="Arial"/>
              </a:rPr>
              <a:t>Tái Định Nghĩa Phương Thức (Overriding)</a:t>
            </a:r>
            <a:endParaRPr lang="en-US" b="1"/>
          </a:p>
        </p:txBody>
      </p:sp>
      <p:sp>
        <p:nvSpPr>
          <p:cNvPr id="3" name="Slide Number Placeholder 2">
            <a:extLst>
              <a:ext uri="{FF2B5EF4-FFF2-40B4-BE49-F238E27FC236}">
                <a16:creationId xmlns:a16="http://schemas.microsoft.com/office/drawing/2014/main" id="{9083A245-3D45-9322-C3C8-0D59DD84A617}"/>
              </a:ext>
            </a:extLst>
          </p:cNvPr>
          <p:cNvSpPr>
            <a:spLocks noGrp="1"/>
          </p:cNvSpPr>
          <p:nvPr>
            <p:ph type="sldNum" sz="quarter" idx="12"/>
          </p:nvPr>
        </p:nvSpPr>
        <p:spPr/>
        <p:txBody>
          <a:bodyPr/>
          <a:lstStyle/>
          <a:p>
            <a:fld id="{87E7843D-FF13-4365-9478-9625B70A2705}" type="slidenum">
              <a:rPr lang="en-US" smtClean="0"/>
              <a:t>58</a:t>
            </a:fld>
            <a:endParaRPr lang="en-US"/>
          </a:p>
        </p:txBody>
      </p:sp>
      <p:sp>
        <p:nvSpPr>
          <p:cNvPr id="6" name="Rectangle 1">
            <a:extLst>
              <a:ext uri="{FF2B5EF4-FFF2-40B4-BE49-F238E27FC236}">
                <a16:creationId xmlns:a16="http://schemas.microsoft.com/office/drawing/2014/main" id="{3D7FC48B-DC41-1770-A92D-686361DCB1FF}"/>
              </a:ext>
            </a:extLst>
          </p:cNvPr>
          <p:cNvSpPr>
            <a:spLocks noGrp="1" noChangeArrowheads="1"/>
          </p:cNvSpPr>
          <p:nvPr>
            <p:ph idx="1"/>
          </p:nvPr>
        </p:nvSpPr>
        <p:spPr bwMode="auto">
          <a:xfrm>
            <a:off x="1484310" y="2936438"/>
            <a:ext cx="107925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Lớp con ghi đè lại phương thức của lớp cha.</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2400" b="0" i="0" u="none" strike="noStrike" cap="none" normalizeH="0" baseline="0">
                <a:ln>
                  <a:noFill/>
                </a:ln>
                <a:solidFill>
                  <a:schemeClr val="tx1"/>
                </a:solidFill>
                <a:effectLst/>
                <a:latin typeface="Arial" panose="020B0604020202020204" pitchFamily="34" charset="0"/>
              </a:rPr>
              <a:t>Lý do:</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a:ln>
                  <a:noFill/>
                </a:ln>
                <a:solidFill>
                  <a:schemeClr val="tx1"/>
                </a:solidFill>
                <a:effectLst/>
                <a:latin typeface="Arial" panose="020B0604020202020204" pitchFamily="34" charset="0"/>
              </a:rPr>
              <a:t>Mở rộng chức năng (Extension)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a:ln>
                  <a:noFill/>
                </a:ln>
                <a:solidFill>
                  <a:schemeClr val="tx1"/>
                </a:solidFill>
                <a:effectLst/>
                <a:latin typeface="Arial" panose="020B0604020202020204" pitchFamily="34" charset="0"/>
              </a:rPr>
              <a:t>Giới hạn chức năng (Restriction)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a:ln>
                  <a:noFill/>
                </a:ln>
                <a:solidFill>
                  <a:schemeClr val="tx1"/>
                </a:solidFill>
                <a:effectLst/>
                <a:latin typeface="Arial" panose="020B0604020202020204" pitchFamily="34" charset="0"/>
              </a:rPr>
              <a:t>Tối ưu hóa hoặc tùy biến cho phù hợp</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a:ln>
                  <a:noFill/>
                </a:ln>
                <a:solidFill>
                  <a:schemeClr val="tx1"/>
                </a:solidFill>
                <a:effectLst/>
                <a:latin typeface="Arial" panose="020B0604020202020204" pitchFamily="34" charset="0"/>
              </a:rPr>
              <a:t>Ví dụ</a:t>
            </a:r>
            <a:r>
              <a:rPr kumimoji="0" lang="en-US" altLang="en-US" sz="2400" b="0" i="0" u="none" strike="noStrike" cap="none" normalizeH="0" baseline="0">
                <a:ln>
                  <a:noFill/>
                </a:ln>
                <a:solidFill>
                  <a:schemeClr val="tx1"/>
                </a:solidFill>
                <a:effectLst/>
                <a:latin typeface="Arial" panose="020B0604020202020204" pitchFamily="34" charset="0"/>
              </a:rPr>
              <a:t>: </a:t>
            </a:r>
            <a:r>
              <a:rPr kumimoji="0" lang="en-US" altLang="en-US" sz="2400" b="0" i="0" u="none" strike="noStrike" cap="none" normalizeH="0" baseline="0">
                <a:ln>
                  <a:noFill/>
                </a:ln>
                <a:solidFill>
                  <a:schemeClr val="tx1"/>
                </a:solidFill>
                <a:effectLst/>
                <a:latin typeface="Arial"/>
              </a:rPr>
              <a:t>DiChuyen() ở lớp DongVat, lớp Chim override để thêm chức năng bay.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2271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4844-E260-51DF-66EF-0FAC9979463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770FF6D-A910-6531-3851-6F113D69B9F9}"/>
              </a:ext>
            </a:extLst>
          </p:cNvPr>
          <p:cNvSpPr txBox="1">
            <a:spLocks/>
          </p:cNvSpPr>
          <p:nvPr/>
        </p:nvSpPr>
        <p:spPr>
          <a:xfrm>
            <a:off x="1636711" y="83820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4480"/>
              </a:lnSpc>
              <a:spcBef>
                <a:spcPct val="0"/>
              </a:spcBef>
            </a:pPr>
            <a:r>
              <a:rPr lang="en-US" sz="4000" b="1">
                <a:latin typeface="Arial"/>
              </a:rPr>
              <a:t>Ràng Buộc (Constraint)</a:t>
            </a:r>
            <a:endParaRPr lang="en-US">
              <a:solidFill>
                <a:srgbClr val="FBE6E3"/>
              </a:solidFill>
              <a:latin typeface="Arial (Body)"/>
              <a:ea typeface="Poppins"/>
              <a:cs typeface="Poppins"/>
              <a:sym typeface="Poppins"/>
            </a:endParaRPr>
          </a:p>
        </p:txBody>
      </p:sp>
      <p:sp>
        <p:nvSpPr>
          <p:cNvPr id="3" name="Slide Number Placeholder 2">
            <a:extLst>
              <a:ext uri="{FF2B5EF4-FFF2-40B4-BE49-F238E27FC236}">
                <a16:creationId xmlns:a16="http://schemas.microsoft.com/office/drawing/2014/main" id="{CB3030B4-B12F-287F-228D-8ABAB65270E1}"/>
              </a:ext>
            </a:extLst>
          </p:cNvPr>
          <p:cNvSpPr>
            <a:spLocks noGrp="1"/>
          </p:cNvSpPr>
          <p:nvPr>
            <p:ph type="sldNum" sz="quarter" idx="12"/>
          </p:nvPr>
        </p:nvSpPr>
        <p:spPr/>
        <p:txBody>
          <a:bodyPr/>
          <a:lstStyle/>
          <a:p>
            <a:fld id="{87E7843D-FF13-4365-9478-9625B70A2705}" type="slidenum">
              <a:rPr lang="en-US" smtClean="0"/>
              <a:t>59</a:t>
            </a:fld>
            <a:endParaRPr lang="en-US"/>
          </a:p>
        </p:txBody>
      </p:sp>
      <p:sp>
        <p:nvSpPr>
          <p:cNvPr id="8" name="Rectangle 2">
            <a:extLst>
              <a:ext uri="{FF2B5EF4-FFF2-40B4-BE49-F238E27FC236}">
                <a16:creationId xmlns:a16="http://schemas.microsoft.com/office/drawing/2014/main" id="{D8B0D9DB-4239-E241-01AA-A2465D549905}"/>
              </a:ext>
            </a:extLst>
          </p:cNvPr>
          <p:cNvSpPr>
            <a:spLocks noGrp="1" noChangeArrowheads="1"/>
          </p:cNvSpPr>
          <p:nvPr>
            <p:ph idx="1"/>
          </p:nvPr>
        </p:nvSpPr>
        <p:spPr bwMode="auto">
          <a:xfrm>
            <a:off x="1484310" y="3490436"/>
            <a:ext cx="984115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Là các quy tắc hoặc điều kiện áp dụng giữa các lớp hoặc đối tượng.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Viết trong dấu ngoặc nhọn </a:t>
            </a:r>
            <a:r>
              <a:rPr kumimoji="0" lang="en-US" altLang="en-US" sz="2400" b="0" i="0" u="none" strike="noStrike" cap="none" normalizeH="0" baseline="0">
                <a:ln>
                  <a:noFill/>
                </a:ln>
                <a:solidFill>
                  <a:schemeClr val="tx1"/>
                </a:solidFill>
                <a:effectLst/>
                <a:latin typeface="Arial"/>
              </a:rPr>
              <a: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a:ln>
                  <a:noFill/>
                </a:ln>
                <a:solidFill>
                  <a:schemeClr val="tx1"/>
                </a:solidFill>
                <a:effectLst/>
                <a:latin typeface="Arial" panose="020B0604020202020204" pitchFamily="34" charset="0"/>
              </a:rPr>
              <a:t>Ví dụ</a:t>
            </a:r>
            <a:r>
              <a:rPr kumimoji="0" lang="en-US" altLang="en-US" sz="2400" b="0" i="0" u="none" strike="noStrike" cap="none" normalizeH="0" baseline="0">
                <a:ln>
                  <a:noFill/>
                </a:ln>
                <a:solidFill>
                  <a:schemeClr val="tx1"/>
                </a:solidFill>
                <a:effectLst/>
                <a:latin typeface="Arial" panose="020B0604020202020204" pitchFamily="34" charset="0"/>
              </a:rPr>
              <a:t>: </a:t>
            </a:r>
            <a:r>
              <a:rPr kumimoji="0" lang="en-US" altLang="en-US" sz="2400" b="0" i="0" u="none" strike="noStrike" cap="none" normalizeH="0" baseline="0">
                <a:ln>
                  <a:noFill/>
                </a:ln>
                <a:solidFill>
                  <a:schemeClr val="tx1"/>
                </a:solidFill>
                <a:effectLst/>
                <a:latin typeface="Arial"/>
              </a:rPr>
              <a:t>{salary &lt; boss.salary} – Lương của nhân viên luôn nhỏ hơn sếp.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3658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inh-anh-ket-thuc-slide"/>
          <p:cNvPicPr>
            <a:picLocks noGrp="1" noChangeAspect="1"/>
          </p:cNvPicPr>
          <p:nvPr>
            <p:ph idx="1"/>
          </p:nvPr>
        </p:nvPicPr>
        <p:blipFill>
          <a:blip r:embed="rId2"/>
          <a:stretch>
            <a:fillRect/>
          </a:stretch>
        </p:blipFill>
        <p:spPr>
          <a:xfrm>
            <a:off x="0" y="-42647"/>
            <a:ext cx="12192000" cy="6900647"/>
          </a:xfrm>
          <a:prstGeom prst="rect">
            <a:avLst/>
          </a:prstGeom>
        </p:spPr>
      </p:pic>
      <p:sp>
        <p:nvSpPr>
          <p:cNvPr id="2" name="Slide Number Placeholder 1">
            <a:extLst>
              <a:ext uri="{FF2B5EF4-FFF2-40B4-BE49-F238E27FC236}">
                <a16:creationId xmlns:a16="http://schemas.microsoft.com/office/drawing/2014/main" id="{EE7D2A60-46BA-5A95-7A7E-5CF910E2A167}"/>
              </a:ext>
            </a:extLst>
          </p:cNvPr>
          <p:cNvSpPr>
            <a:spLocks noGrp="1"/>
          </p:cNvSpPr>
          <p:nvPr>
            <p:ph type="sldNum" sz="quarter" idx="12"/>
          </p:nvPr>
        </p:nvSpPr>
        <p:spPr/>
        <p:txBody>
          <a:bodyPr/>
          <a:lstStyle/>
          <a:p>
            <a:fld id="{87E7843D-FF13-4365-9478-9625B70A2705}" type="slidenum">
              <a:rPr lang="en-US" smtClean="0"/>
              <a:t>60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11542</TotalTime>
  <Words>4308</Words>
  <Application>Microsoft Office PowerPoint</Application>
  <PresentationFormat>Widescreen</PresentationFormat>
  <Paragraphs>384</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 (Body)</vt:lpstr>
      <vt:lpstr>Lato Extended</vt:lpstr>
      <vt:lpstr>Arial</vt:lpstr>
      <vt:lpstr>Calibri</vt:lpstr>
      <vt:lpstr>Corbel</vt:lpstr>
      <vt:lpstr>Parallax</vt:lpstr>
      <vt:lpstr>Buổi 6 Công nghệ phần mềm</vt:lpstr>
      <vt:lpstr>Nội dung</vt:lpstr>
      <vt:lpstr>Kiến trúc phần mềm</vt:lpstr>
      <vt:lpstr>Vai trò của thiết kế kiến trúc trong phát triển phần mềm</vt:lpstr>
      <vt:lpstr>PowerPoint Presentation</vt:lpstr>
      <vt:lpstr>Sơ đồ tuần tự (Sequence Diagram)</vt:lpstr>
      <vt:lpstr>Thành phần cơ bản của Sơ đồ tuần tự (Sequence Diagram)</vt:lpstr>
      <vt:lpstr>Một số khái niệm - Cấu trúc trong kiến trúc phần mềm</vt:lpstr>
      <vt:lpstr>Một số khái niệm - Mẫu kiến trúc (Architectural Patterns)</vt:lpstr>
      <vt:lpstr>Một số khái niệm - Thuộc tính chất lượng</vt:lpstr>
      <vt:lpstr>Kiến trúc và thuộc tính chất lượng</vt:lpstr>
      <vt:lpstr>Kiến trúc và thuộc tính chất lượng</vt:lpstr>
      <vt:lpstr>Các nguyên lý thiết kế phần mềm</vt:lpstr>
      <vt:lpstr>Các nguyên lý thiết kế phần mềm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 Trung</dc:creator>
  <cp:lastModifiedBy>Trần Thế Pháp</cp:lastModifiedBy>
  <cp:revision>40</cp:revision>
  <dcterms:created xsi:type="dcterms:W3CDTF">2025-02-19T03:59:00Z</dcterms:created>
  <dcterms:modified xsi:type="dcterms:W3CDTF">2025-05-06T13:52:19Z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049FBE3E295C43AB8811D6E1ABA95FC5_12</vt:lpwstr>
  </property>
  <property fmtid="{D5CDD505-2E9C-101B-9397-08002B2CF9AE}" pid="3" name="KSOProductBuildVer">
    <vt:lpwstr>1033-12.2.0.19805</vt:lpwstr>
  </property>
</Properties>
</file>